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530" r:id="rId5"/>
    <p:sldId id="531" r:id="rId6"/>
    <p:sldId id="533" r:id="rId7"/>
    <p:sldId id="535" r:id="rId8"/>
    <p:sldId id="547" r:id="rId9"/>
    <p:sldId id="548" r:id="rId10"/>
    <p:sldId id="549" r:id="rId11"/>
    <p:sldId id="534" r:id="rId12"/>
    <p:sldId id="546" r:id="rId13"/>
    <p:sldId id="536" r:id="rId14"/>
    <p:sldId id="550" r:id="rId15"/>
    <p:sldId id="545" r:id="rId16"/>
    <p:sldId id="537" r:id="rId17"/>
    <p:sldId id="538" r:id="rId18"/>
    <p:sldId id="539" r:id="rId19"/>
    <p:sldId id="540" r:id="rId20"/>
    <p:sldId id="541" r:id="rId21"/>
    <p:sldId id="543" r:id="rId22"/>
    <p:sldId id="54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2857"/>
    <a:srgbClr val="8822EE"/>
    <a:srgbClr val="F01688"/>
    <a:srgbClr val="2F21F3"/>
    <a:srgbClr val="FEB52B"/>
    <a:srgbClr val="F01689"/>
    <a:srgbClr val="6F22E3"/>
    <a:srgbClr val="E218A3"/>
    <a:srgbClr val="BA20DB"/>
    <a:srgbClr val="6A23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422"/>
  </p:normalViewPr>
  <p:slideViewPr>
    <p:cSldViewPr snapToGrid="0">
      <p:cViewPr varScale="1">
        <p:scale>
          <a:sx n="96" d="100"/>
          <a:sy n="96" d="100"/>
        </p:scale>
        <p:origin x="5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2654521" y="334230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824972" y="334083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996672" y="334083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9158187" y="335149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2059659" y="273415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4235682" y="273919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6414531" y="273516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8558209" y="274420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759833" y="273671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2128937" y="280470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4303549" y="280974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6482398" y="280571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8626076" y="281475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840400" y="280726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2091258" y="413299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2091258" y="461762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4249242" y="413299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4249242" y="461762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6434658" y="413299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6434658" y="461762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8583498" y="413299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8583498" y="461762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2358661" y="303714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4515631" y="302929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6706503" y="304434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856721" y="302929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1058345" y="303522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3060522" y="429758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5227650" y="429758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7413066" y="429758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9552762" y="429758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765610" y="429758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8.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a:xfrm>
            <a:off x="0" y="393856"/>
            <a:ext cx="12192000" cy="1481328"/>
          </a:xfrm>
        </p:spPr>
        <p:txBody>
          <a:bodyPr anchor="ctr"/>
          <a:lstStyle/>
          <a:p>
            <a:r>
              <a:rPr lang="en-US" sz="5000" dirty="0"/>
              <a:t>CSCI44 Project Presentation</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a:xfrm>
            <a:off x="0" y="4135208"/>
            <a:ext cx="12191999" cy="1510218"/>
          </a:xfrm>
        </p:spPr>
        <p:txBody>
          <a:bodyPr anchor="ctr"/>
          <a:lstStyle/>
          <a:p>
            <a:r>
              <a:rPr lang="en-US" dirty="0"/>
              <a:t>Yousef Kahwaji</a:t>
            </a:r>
          </a:p>
          <a:p>
            <a:r>
              <a:rPr lang="en-US" dirty="0"/>
              <a:t>Mohammad Al Dirani</a:t>
            </a:r>
          </a:p>
          <a:p>
            <a:r>
              <a:rPr lang="en-US" dirty="0"/>
              <a:t>Ahmad Akoum</a:t>
            </a:r>
          </a:p>
        </p:txBody>
      </p:sp>
      <p:sp>
        <p:nvSpPr>
          <p:cNvPr id="5" name="TextBox 4">
            <a:extLst>
              <a:ext uri="{FF2B5EF4-FFF2-40B4-BE49-F238E27FC236}">
                <a16:creationId xmlns:a16="http://schemas.microsoft.com/office/drawing/2014/main" id="{4AC33918-356C-D577-FD25-57B7F4538D32}"/>
              </a:ext>
            </a:extLst>
          </p:cNvPr>
          <p:cNvSpPr txBox="1"/>
          <p:nvPr/>
        </p:nvSpPr>
        <p:spPr>
          <a:xfrm>
            <a:off x="0" y="2636230"/>
            <a:ext cx="12192000" cy="1323439"/>
          </a:xfrm>
          <a:prstGeom prst="rect">
            <a:avLst/>
          </a:prstGeom>
          <a:noFill/>
        </p:spPr>
        <p:txBody>
          <a:bodyPr wrap="square" rtlCol="0">
            <a:spAutoFit/>
          </a:bodyPr>
          <a:lstStyle/>
          <a:p>
            <a:pPr algn="ctr"/>
            <a:r>
              <a:rPr lang="en-US" sz="4000" b="1" cap="all" spc="600" dirty="0">
                <a:solidFill>
                  <a:schemeClr val="bg1"/>
                </a:solidFill>
                <a:latin typeface="Tw Cen MT" panose="020B0602020104020603" pitchFamily="34" charset="0"/>
                <a:ea typeface="+mj-ea"/>
                <a:cs typeface="+mj-cs"/>
              </a:rPr>
              <a:t>NVDA Price Prediction</a:t>
            </a:r>
          </a:p>
          <a:p>
            <a:pPr algn="ctr"/>
            <a:r>
              <a:rPr lang="en-US" sz="4000" b="1" cap="all" spc="600" dirty="0">
                <a:solidFill>
                  <a:schemeClr val="bg1"/>
                </a:solidFill>
                <a:latin typeface="Tw Cen MT" panose="020B0602020104020603" pitchFamily="34" charset="0"/>
                <a:ea typeface="+mj-ea"/>
                <a:cs typeface="+mj-cs"/>
              </a:rPr>
              <a:t> A Multi-Model Analysis</a:t>
            </a: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0" y="32004"/>
            <a:ext cx="12192000" cy="1069848"/>
          </a:xfrm>
        </p:spPr>
        <p:txBody>
          <a:bodyPr anchor="ctr">
            <a:normAutofit/>
          </a:bodyPr>
          <a:lstStyle/>
          <a:p>
            <a:pPr algn="ctr"/>
            <a:r>
              <a:rPr lang="en-US" b="1" spc="600" dirty="0">
                <a:ln w="28575">
                  <a:noFill/>
                  <a:prstDash val="solid"/>
                </a:ln>
                <a:solidFill>
                  <a:schemeClr val="bg1"/>
                </a:solidFill>
                <a:latin typeface="Tw Cen MT" panose="020B0602020104020603" pitchFamily="34" charset="77"/>
              </a:rPr>
              <a:t>CONTENTS</a:t>
            </a:r>
            <a:endParaRPr lang="en-US" sz="3200" dirty="0"/>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094100" y="722376"/>
            <a:ext cx="3777930" cy="5134488"/>
          </a:xfrm>
        </p:spPr>
        <p:txBody>
          <a:bodyPr anchor="ctr"/>
          <a:lstStyle/>
          <a:p>
            <a:pPr>
              <a:buFont typeface="Arial" panose="020B0604020202020204" pitchFamily="34" charset="0"/>
              <a:buChar char="•"/>
            </a:pPr>
            <a:r>
              <a:rPr lang="en-US" dirty="0">
                <a:solidFill>
                  <a:schemeClr val="bg1"/>
                </a:solidFill>
                <a:latin typeface="Segoe UI Light" panose="020B0502040204020203" pitchFamily="34" charset="0"/>
                <a:cs typeface="Segoe UI Light" panose="020B0502040204020203" pitchFamily="34" charset="0"/>
              </a:rPr>
              <a:t>Introduction</a:t>
            </a:r>
          </a:p>
          <a:p>
            <a:pPr>
              <a:buFont typeface="Arial" panose="020B0604020202020204" pitchFamily="34" charset="0"/>
              <a:buChar char="•"/>
            </a:pPr>
            <a:r>
              <a:rPr lang="en-US" dirty="0">
                <a:latin typeface="Segoe UI Light" panose="020B0502040204020203" pitchFamily="34" charset="0"/>
                <a:cs typeface="Segoe UI Light" panose="020B0502040204020203" pitchFamily="34" charset="0"/>
              </a:rPr>
              <a:t>Dataset</a:t>
            </a:r>
          </a:p>
          <a:p>
            <a:pPr>
              <a:buFont typeface="Arial" panose="020B0604020202020204" pitchFamily="34" charset="0"/>
              <a:buChar char="•"/>
            </a:pPr>
            <a:r>
              <a:rPr lang="en-US" dirty="0">
                <a:solidFill>
                  <a:schemeClr val="bg1"/>
                </a:solidFill>
                <a:latin typeface="Segoe UI Light" panose="020B0502040204020203" pitchFamily="34" charset="0"/>
                <a:cs typeface="Segoe UI Light" panose="020B0502040204020203" pitchFamily="34" charset="0"/>
              </a:rPr>
              <a:t>Feature Engineering</a:t>
            </a:r>
          </a:p>
          <a:p>
            <a:pPr>
              <a:buFont typeface="Arial" panose="020B0604020202020204" pitchFamily="34" charset="0"/>
              <a:buChar char="•"/>
            </a:pPr>
            <a:r>
              <a:rPr lang="en-US" dirty="0">
                <a:latin typeface="Segoe UI Light" panose="020B0502040204020203" pitchFamily="34" charset="0"/>
                <a:cs typeface="Segoe UI Light" panose="020B0502040204020203" pitchFamily="34" charset="0"/>
              </a:rPr>
              <a:t>Model Strategy</a:t>
            </a:r>
          </a:p>
          <a:p>
            <a:pPr>
              <a:buFont typeface="Arial" panose="020B0604020202020204" pitchFamily="34" charset="0"/>
              <a:buChar char="•"/>
            </a:pPr>
            <a:r>
              <a:rPr lang="en-US" dirty="0">
                <a:solidFill>
                  <a:schemeClr val="bg1"/>
                </a:solidFill>
                <a:latin typeface="Segoe UI Light" panose="020B0502040204020203" pitchFamily="34" charset="0"/>
                <a:cs typeface="Segoe UI Light" panose="020B0502040204020203" pitchFamily="34" charset="0"/>
              </a:rPr>
              <a:t>Supervised Learning</a:t>
            </a:r>
          </a:p>
          <a:p>
            <a:pPr>
              <a:buFont typeface="Arial" panose="020B0604020202020204" pitchFamily="34" charset="0"/>
              <a:buChar char="•"/>
            </a:pPr>
            <a:r>
              <a:rPr lang="en-US" dirty="0">
                <a:latin typeface="Segoe UI Light" panose="020B0502040204020203" pitchFamily="34" charset="0"/>
                <a:cs typeface="Segoe UI Light" panose="020B0502040204020203" pitchFamily="34" charset="0"/>
              </a:rPr>
              <a:t>Unsupervised Learning</a:t>
            </a:r>
          </a:p>
          <a:p>
            <a:pPr>
              <a:buFont typeface="Arial" panose="020B0604020202020204" pitchFamily="34" charset="0"/>
              <a:buChar char="•"/>
            </a:pPr>
            <a:r>
              <a:rPr lang="en-US" dirty="0">
                <a:solidFill>
                  <a:schemeClr val="bg1"/>
                </a:solidFill>
                <a:latin typeface="Segoe UI Light" panose="020B0502040204020203" pitchFamily="34" charset="0"/>
                <a:cs typeface="Segoe UI Light" panose="020B0502040204020203" pitchFamily="34" charset="0"/>
              </a:rPr>
              <a:t>Con</a:t>
            </a:r>
            <a:r>
              <a:rPr lang="en-US" dirty="0">
                <a:latin typeface="Segoe UI Light" panose="020B0502040204020203" pitchFamily="34" charset="0"/>
                <a:cs typeface="Segoe UI Light" panose="020B0502040204020203" pitchFamily="34" charset="0"/>
              </a:rPr>
              <a:t>clusion</a:t>
            </a:r>
            <a:endParaRPr lang="en-US"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nchor="b"/>
          <a:lstStyle/>
          <a:p>
            <a:r>
              <a:rPr lang="en-US" dirty="0"/>
              <a:t>INTRODUCTION</a:t>
            </a:r>
            <a:endParaRPr lang="en-US" sz="3200" dirty="0"/>
          </a:p>
        </p:txBody>
      </p:sp>
      <p:sp>
        <p:nvSpPr>
          <p:cNvPr id="5" name="Subtitle 4">
            <a:extLst>
              <a:ext uri="{FF2B5EF4-FFF2-40B4-BE49-F238E27FC236}">
                <a16:creationId xmlns:a16="http://schemas.microsoft.com/office/drawing/2014/main" id="{BD8EC1A1-83D4-0D37-1A0C-51A437E3E881}"/>
              </a:ext>
            </a:extLst>
          </p:cNvPr>
          <p:cNvSpPr>
            <a:spLocks noGrp="1"/>
          </p:cNvSpPr>
          <p:nvPr>
            <p:ph type="subTitle" idx="1"/>
          </p:nvPr>
        </p:nvSpPr>
        <p:spPr>
          <a:xfrm>
            <a:off x="1752600" y="3630169"/>
            <a:ext cx="8503920" cy="2073038"/>
          </a:xfrm>
        </p:spPr>
        <p:txBody>
          <a:bodyPr/>
          <a:lstStyle/>
          <a:p>
            <a:r>
              <a:rPr lang="en-US" sz="2000" dirty="0"/>
              <a:t>Stock market prediction is challenging due to noisy, non-linear data and external influences. This project evaluates how well machine learning models predict next-day </a:t>
            </a:r>
            <a:r>
              <a:rPr lang="en-US" sz="2000" b="1" dirty="0"/>
              <a:t>UP/DOWN</a:t>
            </a:r>
            <a:r>
              <a:rPr lang="en-US" sz="2000" dirty="0"/>
              <a:t> movement using technical indicators. NVIDIA (NVDA) stock is used as a case study to assess whether limitations come from the models or the data itself.</a:t>
            </a:r>
          </a:p>
        </p:txBody>
      </p: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a:xfrm>
            <a:off x="850392" y="187452"/>
            <a:ext cx="10881360" cy="1069848"/>
          </a:xfrm>
        </p:spPr>
        <p:txBody>
          <a:bodyPr anchor="ctr"/>
          <a:lstStyle/>
          <a:p>
            <a:r>
              <a:rPr lang="en-US" sz="4000" b="1" spc="600" dirty="0">
                <a:ln w="28575">
                  <a:noFill/>
                  <a:prstDash val="solid"/>
                </a:ln>
                <a:solidFill>
                  <a:schemeClr val="bg1"/>
                </a:solidFill>
                <a:latin typeface="Tw Cen MT" panose="020B0602020104020603" pitchFamily="34" charset="77"/>
              </a:rPr>
              <a:t>Dataset</a:t>
            </a:r>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
        <p:nvSpPr>
          <p:cNvPr id="7" name="Content Placeholder 6">
            <a:extLst>
              <a:ext uri="{FF2B5EF4-FFF2-40B4-BE49-F238E27FC236}">
                <a16:creationId xmlns:a16="http://schemas.microsoft.com/office/drawing/2014/main" id="{A515D879-5EAD-BEFC-F06D-4CF429F02BF4}"/>
              </a:ext>
            </a:extLst>
          </p:cNvPr>
          <p:cNvSpPr>
            <a:spLocks noGrp="1"/>
          </p:cNvSpPr>
          <p:nvPr>
            <p:ph idx="1"/>
          </p:nvPr>
        </p:nvSpPr>
        <p:spPr>
          <a:xfrm>
            <a:off x="589788" y="1726791"/>
            <a:ext cx="6831495" cy="4275482"/>
          </a:xfrm>
        </p:spPr>
        <p:txBody>
          <a:bodyPr/>
          <a:lstStyle/>
          <a:p>
            <a:r>
              <a:rPr lang="en-US" sz="2000" dirty="0"/>
              <a:t>The dataset was retrieved from the “</a:t>
            </a:r>
            <a:r>
              <a:rPr lang="en-US" sz="2000" dirty="0" err="1"/>
              <a:t>yfinance</a:t>
            </a:r>
            <a:r>
              <a:rPr lang="en-US" sz="2000" dirty="0"/>
              <a:t>” library and used entirely; it had the following columns</a:t>
            </a:r>
            <a:r>
              <a:rPr lang="en-US" sz="2400" dirty="0"/>
              <a:t>:</a:t>
            </a:r>
          </a:p>
          <a:p>
            <a:pPr lvl="1"/>
            <a:r>
              <a:rPr lang="en-US" sz="1600" dirty="0">
                <a:solidFill>
                  <a:schemeClr val="bg2">
                    <a:lumMod val="90000"/>
                  </a:schemeClr>
                </a:solidFill>
              </a:rPr>
              <a:t>Open</a:t>
            </a:r>
          </a:p>
          <a:p>
            <a:pPr lvl="1"/>
            <a:r>
              <a:rPr lang="en-US" sz="1600" dirty="0">
                <a:solidFill>
                  <a:schemeClr val="bg2">
                    <a:lumMod val="90000"/>
                  </a:schemeClr>
                </a:solidFill>
              </a:rPr>
              <a:t>High</a:t>
            </a:r>
          </a:p>
          <a:p>
            <a:pPr lvl="1"/>
            <a:r>
              <a:rPr lang="en-US" sz="1600" dirty="0">
                <a:solidFill>
                  <a:schemeClr val="bg2">
                    <a:lumMod val="90000"/>
                  </a:schemeClr>
                </a:solidFill>
              </a:rPr>
              <a:t>Low</a:t>
            </a:r>
          </a:p>
          <a:p>
            <a:pPr lvl="1"/>
            <a:r>
              <a:rPr lang="en-US" sz="1600" dirty="0">
                <a:solidFill>
                  <a:schemeClr val="bg2">
                    <a:lumMod val="90000"/>
                  </a:schemeClr>
                </a:solidFill>
              </a:rPr>
              <a:t>Close</a:t>
            </a:r>
          </a:p>
          <a:p>
            <a:pPr lvl="1"/>
            <a:r>
              <a:rPr lang="en-US" sz="1600" dirty="0">
                <a:solidFill>
                  <a:schemeClr val="bg2">
                    <a:lumMod val="90000"/>
                  </a:schemeClr>
                </a:solidFill>
              </a:rPr>
              <a:t>Volume</a:t>
            </a:r>
          </a:p>
          <a:p>
            <a:pPr lvl="1"/>
            <a:r>
              <a:rPr lang="en-US" sz="1600" dirty="0">
                <a:solidFill>
                  <a:schemeClr val="bg2">
                    <a:lumMod val="90000"/>
                  </a:schemeClr>
                </a:solidFill>
              </a:rPr>
              <a:t>Dividends</a:t>
            </a:r>
          </a:p>
          <a:p>
            <a:pPr lvl="1"/>
            <a:r>
              <a:rPr lang="en-US" sz="1600" dirty="0">
                <a:solidFill>
                  <a:schemeClr val="bg2">
                    <a:lumMod val="90000"/>
                  </a:schemeClr>
                </a:solidFill>
              </a:rPr>
              <a:t>Stock Splits</a:t>
            </a:r>
            <a:endParaRPr lang="en-US" sz="2400" dirty="0"/>
          </a:p>
          <a:p>
            <a:r>
              <a:rPr lang="en-US" sz="2000" dirty="0"/>
              <a:t>The </a:t>
            </a:r>
            <a:r>
              <a:rPr lang="en-US" sz="2000" dirty="0">
                <a:solidFill>
                  <a:schemeClr val="bg2">
                    <a:lumMod val="90000"/>
                  </a:schemeClr>
                </a:solidFill>
              </a:rPr>
              <a:t>Dividends</a:t>
            </a:r>
            <a:r>
              <a:rPr lang="en-US" sz="2000" dirty="0"/>
              <a:t> and </a:t>
            </a:r>
            <a:r>
              <a:rPr lang="en-US" sz="2000" dirty="0">
                <a:solidFill>
                  <a:schemeClr val="bg2">
                    <a:lumMod val="90000"/>
                  </a:schemeClr>
                </a:solidFill>
              </a:rPr>
              <a:t>Stock</a:t>
            </a:r>
            <a:r>
              <a:rPr lang="en-US" sz="2000" dirty="0"/>
              <a:t> </a:t>
            </a:r>
            <a:r>
              <a:rPr lang="en-US" sz="2000" dirty="0">
                <a:solidFill>
                  <a:schemeClr val="bg2">
                    <a:lumMod val="90000"/>
                  </a:schemeClr>
                </a:solidFill>
              </a:rPr>
              <a:t>Splits</a:t>
            </a:r>
            <a:r>
              <a:rPr lang="en-US" sz="2000" dirty="0"/>
              <a:t> columns were removed as they don’t provide any important information</a:t>
            </a:r>
          </a:p>
        </p:txBody>
      </p:sp>
      <p:pic>
        <p:nvPicPr>
          <p:cNvPr id="15" name="Picture 14" descr="A screenshot of a computer program&#10;&#10;AI-generated content may be incorrect.">
            <a:extLst>
              <a:ext uri="{FF2B5EF4-FFF2-40B4-BE49-F238E27FC236}">
                <a16:creationId xmlns:a16="http://schemas.microsoft.com/office/drawing/2014/main" id="{FD582185-85D1-75C4-C165-FA7D4D8379E1}"/>
              </a:ext>
            </a:extLst>
          </p:cNvPr>
          <p:cNvPicPr>
            <a:picLocks noChangeAspect="1"/>
          </p:cNvPicPr>
          <p:nvPr/>
        </p:nvPicPr>
        <p:blipFill>
          <a:blip r:embed="rId2"/>
          <a:stretch>
            <a:fillRect/>
          </a:stretch>
        </p:blipFill>
        <p:spPr>
          <a:xfrm>
            <a:off x="7295387" y="1726791"/>
            <a:ext cx="4773173" cy="3499882"/>
          </a:xfrm>
          <a:prstGeom prst="rect">
            <a:avLst/>
          </a:prstGeom>
        </p:spPr>
      </p:pic>
    </p:spTree>
    <p:extLst>
      <p:ext uri="{BB962C8B-B14F-4D97-AF65-F5344CB8AC3E}">
        <p14:creationId xmlns:p14="http://schemas.microsoft.com/office/powerpoint/2010/main" val="1372651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5BF00-CE60-E6F2-09FD-A06BE563A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9CE21-1B96-F9E8-B0E0-26834FE68EB9}"/>
              </a:ext>
            </a:extLst>
          </p:cNvPr>
          <p:cNvSpPr>
            <a:spLocks noGrp="1"/>
          </p:cNvSpPr>
          <p:nvPr>
            <p:ph type="title"/>
          </p:nvPr>
        </p:nvSpPr>
        <p:spPr>
          <a:xfrm>
            <a:off x="850392" y="187452"/>
            <a:ext cx="10881360" cy="1069848"/>
          </a:xfrm>
        </p:spPr>
        <p:txBody>
          <a:bodyPr anchor="ctr"/>
          <a:lstStyle/>
          <a:p>
            <a:r>
              <a:rPr lang="en-US" sz="4000" b="1" spc="600" dirty="0">
                <a:ln w="28575">
                  <a:noFill/>
                  <a:prstDash val="solid"/>
                </a:ln>
                <a:solidFill>
                  <a:schemeClr val="bg1"/>
                </a:solidFill>
                <a:latin typeface="Tw Cen MT" panose="020B0602020104020603" pitchFamily="34" charset="77"/>
              </a:rPr>
              <a:t>Feature Engineering 1</a:t>
            </a:r>
          </a:p>
        </p:txBody>
      </p:sp>
      <p:sp>
        <p:nvSpPr>
          <p:cNvPr id="5" name="Slide Number Placeholder 4">
            <a:extLst>
              <a:ext uri="{FF2B5EF4-FFF2-40B4-BE49-F238E27FC236}">
                <a16:creationId xmlns:a16="http://schemas.microsoft.com/office/drawing/2014/main" id="{1747EBD1-B7C7-CD98-50BC-AE248D1C9F76}"/>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
        <p:nvSpPr>
          <p:cNvPr id="7" name="Content Placeholder 6">
            <a:extLst>
              <a:ext uri="{FF2B5EF4-FFF2-40B4-BE49-F238E27FC236}">
                <a16:creationId xmlns:a16="http://schemas.microsoft.com/office/drawing/2014/main" id="{61AA0A69-707A-CE85-32F2-A7F6D80CB9F6}"/>
              </a:ext>
            </a:extLst>
          </p:cNvPr>
          <p:cNvSpPr>
            <a:spLocks noGrp="1"/>
          </p:cNvSpPr>
          <p:nvPr>
            <p:ph idx="1"/>
          </p:nvPr>
        </p:nvSpPr>
        <p:spPr>
          <a:xfrm>
            <a:off x="715683" y="1117191"/>
            <a:ext cx="11251030" cy="4275482"/>
          </a:xfrm>
        </p:spPr>
        <p:txBody>
          <a:bodyPr/>
          <a:lstStyle/>
          <a:p>
            <a:pPr marL="0" indent="0">
              <a:buNone/>
            </a:pPr>
            <a:r>
              <a:rPr lang="en-US" sz="2000" dirty="0"/>
              <a:t>Knowing that the features that come with the dataset won’t be enough for models to predict a meaningful result, we decided to engineer new features for the dataset.</a:t>
            </a:r>
          </a:p>
          <a:p>
            <a:pPr marL="0" indent="0">
              <a:buNone/>
            </a:pPr>
            <a:endParaRPr lang="en-US" sz="2000" dirty="0"/>
          </a:p>
          <a:p>
            <a:pPr marL="0" indent="0">
              <a:buNone/>
            </a:pPr>
            <a:endParaRPr lang="en-US" sz="2000" dirty="0"/>
          </a:p>
        </p:txBody>
      </p:sp>
      <p:sp>
        <p:nvSpPr>
          <p:cNvPr id="3" name="TextBox 2">
            <a:extLst>
              <a:ext uri="{FF2B5EF4-FFF2-40B4-BE49-F238E27FC236}">
                <a16:creationId xmlns:a16="http://schemas.microsoft.com/office/drawing/2014/main" id="{6056926F-D8A1-540B-25C8-3941D31D834E}"/>
              </a:ext>
            </a:extLst>
          </p:cNvPr>
          <p:cNvSpPr txBox="1"/>
          <p:nvPr/>
        </p:nvSpPr>
        <p:spPr>
          <a:xfrm>
            <a:off x="850391" y="1986682"/>
            <a:ext cx="3728235" cy="3693319"/>
          </a:xfrm>
          <a:prstGeom prst="rect">
            <a:avLst/>
          </a:prstGeom>
          <a:noFill/>
        </p:spPr>
        <p:txBody>
          <a:bodyPr wrap="square" rtlCol="0">
            <a:spAutoFit/>
          </a:bodyPr>
          <a:lstStyle/>
          <a:p>
            <a:pPr marL="285750" indent="-285750">
              <a:buFontTx/>
              <a:buChar char="-"/>
            </a:pPr>
            <a:r>
              <a:rPr lang="en-US" dirty="0">
                <a:solidFill>
                  <a:schemeClr val="bg1"/>
                </a:solidFill>
              </a:rPr>
              <a:t>SMA, Simple Moving Average</a:t>
            </a:r>
          </a:p>
          <a:p>
            <a:pPr marL="742950" lvl="1" indent="-285750">
              <a:buFontTx/>
              <a:buChar char="-"/>
            </a:pPr>
            <a:r>
              <a:rPr lang="en-US" dirty="0">
                <a:solidFill>
                  <a:schemeClr val="bg1"/>
                </a:solidFill>
              </a:rPr>
              <a:t>SMA 20</a:t>
            </a:r>
          </a:p>
          <a:p>
            <a:pPr marL="742950" lvl="1" indent="-285750">
              <a:buFontTx/>
              <a:buChar char="-"/>
            </a:pPr>
            <a:r>
              <a:rPr lang="en-US" dirty="0">
                <a:solidFill>
                  <a:schemeClr val="bg1"/>
                </a:solidFill>
              </a:rPr>
              <a:t>SMA 50</a:t>
            </a:r>
          </a:p>
          <a:p>
            <a:pPr marL="742950" lvl="1" indent="-285750">
              <a:buFontTx/>
              <a:buChar char="-"/>
            </a:pPr>
            <a:r>
              <a:rPr lang="en-US" dirty="0">
                <a:solidFill>
                  <a:schemeClr val="bg1"/>
                </a:solidFill>
              </a:rPr>
              <a:t>SMA 100</a:t>
            </a:r>
          </a:p>
          <a:p>
            <a:pPr marL="742950" lvl="1" indent="-285750">
              <a:buFontTx/>
              <a:buChar char="-"/>
            </a:pPr>
            <a:r>
              <a:rPr lang="en-US" dirty="0">
                <a:solidFill>
                  <a:schemeClr val="bg1"/>
                </a:solidFill>
              </a:rPr>
              <a:t>SMA 200</a:t>
            </a:r>
          </a:p>
          <a:p>
            <a:pPr marL="285750" indent="-285750">
              <a:buFontTx/>
              <a:buChar char="-"/>
            </a:pPr>
            <a:r>
              <a:rPr lang="en-US" dirty="0">
                <a:solidFill>
                  <a:schemeClr val="bg1"/>
                </a:solidFill>
              </a:rPr>
              <a:t>The simple moving average is an average over a set number of days.</a:t>
            </a:r>
          </a:p>
          <a:p>
            <a:pPr marL="285750" indent="-285750">
              <a:buFontTx/>
              <a:buChar char="-"/>
            </a:pPr>
            <a:r>
              <a:rPr lang="en-US" dirty="0">
                <a:solidFill>
                  <a:schemeClr val="bg1"/>
                </a:solidFill>
              </a:rPr>
              <a:t>From the SMA, we computed the relative distance between the closing price and each SMA: Close / SMA − 1</a:t>
            </a:r>
          </a:p>
          <a:p>
            <a:pPr marL="742950" lvl="1" indent="-285750">
              <a:buFontTx/>
              <a:buChar char="-"/>
            </a:pPr>
            <a:endParaRPr lang="en-US" dirty="0">
              <a:solidFill>
                <a:schemeClr val="bg1"/>
              </a:solidFill>
            </a:endParaRPr>
          </a:p>
        </p:txBody>
      </p:sp>
      <p:sp>
        <p:nvSpPr>
          <p:cNvPr id="4" name="TextBox 3">
            <a:extLst>
              <a:ext uri="{FF2B5EF4-FFF2-40B4-BE49-F238E27FC236}">
                <a16:creationId xmlns:a16="http://schemas.microsoft.com/office/drawing/2014/main" id="{F1D1ADF6-AD61-90AB-72B7-254B288646F1}"/>
              </a:ext>
            </a:extLst>
          </p:cNvPr>
          <p:cNvSpPr txBox="1"/>
          <p:nvPr/>
        </p:nvSpPr>
        <p:spPr>
          <a:xfrm>
            <a:off x="4713335" y="1986682"/>
            <a:ext cx="3396996" cy="2862322"/>
          </a:xfrm>
          <a:prstGeom prst="rect">
            <a:avLst/>
          </a:prstGeom>
          <a:noFill/>
        </p:spPr>
        <p:txBody>
          <a:bodyPr wrap="square" rtlCol="0">
            <a:spAutoFit/>
          </a:bodyPr>
          <a:lstStyle/>
          <a:p>
            <a:pPr marL="285750" indent="-285750">
              <a:buFontTx/>
              <a:buChar char="-"/>
            </a:pPr>
            <a:r>
              <a:rPr lang="en-US" dirty="0">
                <a:solidFill>
                  <a:schemeClr val="bg1"/>
                </a:solidFill>
              </a:rPr>
              <a:t>RSI, Relative Strength Index</a:t>
            </a:r>
          </a:p>
          <a:p>
            <a:pPr marL="742950" lvl="1" indent="-285750">
              <a:buFontTx/>
              <a:buChar char="-"/>
            </a:pPr>
            <a:r>
              <a:rPr lang="en-US" dirty="0">
                <a:solidFill>
                  <a:schemeClr val="bg1"/>
                </a:solidFill>
              </a:rPr>
              <a:t>RSI 14</a:t>
            </a:r>
          </a:p>
          <a:p>
            <a:pPr marL="742950" lvl="1" indent="-285750">
              <a:buFontTx/>
              <a:buChar char="-"/>
            </a:pPr>
            <a:r>
              <a:rPr lang="en-US" dirty="0">
                <a:solidFill>
                  <a:schemeClr val="bg1"/>
                </a:solidFill>
              </a:rPr>
              <a:t>RSI 30</a:t>
            </a:r>
          </a:p>
          <a:p>
            <a:pPr marL="742950" lvl="1" indent="-285750">
              <a:buFontTx/>
              <a:buChar char="-"/>
            </a:pPr>
            <a:r>
              <a:rPr lang="en-US" dirty="0">
                <a:solidFill>
                  <a:schemeClr val="bg1"/>
                </a:solidFill>
              </a:rPr>
              <a:t>RSI 90</a:t>
            </a:r>
          </a:p>
          <a:p>
            <a:pPr marL="285750" indent="-285750">
              <a:buFontTx/>
              <a:buChar char="-"/>
            </a:pPr>
            <a:r>
              <a:rPr lang="en-US" dirty="0">
                <a:solidFill>
                  <a:schemeClr val="bg1"/>
                </a:solidFill>
              </a:rPr>
              <a:t>RSI helps identify overbought and oversold conditions at different time horizons. It was calculated using the RSI method from the ta library</a:t>
            </a:r>
          </a:p>
          <a:p>
            <a:pPr marL="742950" lvl="1" indent="-285750">
              <a:buFontTx/>
              <a:buChar char="-"/>
            </a:pPr>
            <a:endParaRPr lang="en-US" dirty="0">
              <a:solidFill>
                <a:schemeClr val="bg1"/>
              </a:solidFill>
            </a:endParaRPr>
          </a:p>
        </p:txBody>
      </p:sp>
      <p:sp>
        <p:nvSpPr>
          <p:cNvPr id="6" name="TextBox 5">
            <a:extLst>
              <a:ext uri="{FF2B5EF4-FFF2-40B4-BE49-F238E27FC236}">
                <a16:creationId xmlns:a16="http://schemas.microsoft.com/office/drawing/2014/main" id="{D26A4F7A-EDC8-D0F2-FCBD-562FA7F095B4}"/>
              </a:ext>
            </a:extLst>
          </p:cNvPr>
          <p:cNvSpPr txBox="1"/>
          <p:nvPr/>
        </p:nvSpPr>
        <p:spPr>
          <a:xfrm>
            <a:off x="7944613" y="1986682"/>
            <a:ext cx="3396996" cy="2308324"/>
          </a:xfrm>
          <a:prstGeom prst="rect">
            <a:avLst/>
          </a:prstGeom>
          <a:noFill/>
        </p:spPr>
        <p:txBody>
          <a:bodyPr wrap="square" rtlCol="0">
            <a:spAutoFit/>
          </a:bodyPr>
          <a:lstStyle/>
          <a:p>
            <a:pPr marL="742950" lvl="1" indent="-285750">
              <a:buFontTx/>
              <a:buChar char="-"/>
            </a:pPr>
            <a:r>
              <a:rPr lang="en-US" dirty="0">
                <a:solidFill>
                  <a:schemeClr val="bg1"/>
                </a:solidFill>
              </a:rPr>
              <a:t>ROC, Rate of Change</a:t>
            </a:r>
          </a:p>
          <a:p>
            <a:pPr marL="1200150" lvl="2" indent="-285750">
              <a:buFontTx/>
              <a:buChar char="-"/>
            </a:pPr>
            <a:r>
              <a:rPr lang="en-US" dirty="0">
                <a:solidFill>
                  <a:schemeClr val="bg1"/>
                </a:solidFill>
              </a:rPr>
              <a:t>ROC 5</a:t>
            </a:r>
          </a:p>
          <a:p>
            <a:pPr marL="1200150" lvl="2" indent="-285750">
              <a:buFontTx/>
              <a:buChar char="-"/>
            </a:pPr>
            <a:r>
              <a:rPr lang="en-US" dirty="0">
                <a:solidFill>
                  <a:schemeClr val="bg1"/>
                </a:solidFill>
              </a:rPr>
              <a:t>ROC 10</a:t>
            </a:r>
          </a:p>
          <a:p>
            <a:pPr marL="1200150" lvl="2" indent="-285750">
              <a:buFontTx/>
              <a:buChar char="-"/>
            </a:pPr>
            <a:r>
              <a:rPr lang="en-US" dirty="0">
                <a:solidFill>
                  <a:schemeClr val="bg1"/>
                </a:solidFill>
              </a:rPr>
              <a:t>ROC 20</a:t>
            </a:r>
          </a:p>
          <a:p>
            <a:pPr marL="742950" lvl="1" indent="-285750">
              <a:buFontTx/>
              <a:buChar char="-"/>
            </a:pPr>
            <a:r>
              <a:rPr lang="en-US" dirty="0">
                <a:solidFill>
                  <a:schemeClr val="bg1"/>
                </a:solidFill>
              </a:rPr>
              <a:t>ROC captures short-term and medium-term momentum in price changes.</a:t>
            </a:r>
          </a:p>
        </p:txBody>
      </p:sp>
    </p:spTree>
    <p:extLst>
      <p:ext uri="{BB962C8B-B14F-4D97-AF65-F5344CB8AC3E}">
        <p14:creationId xmlns:p14="http://schemas.microsoft.com/office/powerpoint/2010/main" val="427334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67E85-17B7-D237-2CA2-AA6FD757B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24740-0FF2-D6A5-FB89-E85E43703505}"/>
              </a:ext>
            </a:extLst>
          </p:cNvPr>
          <p:cNvSpPr>
            <a:spLocks noGrp="1"/>
          </p:cNvSpPr>
          <p:nvPr>
            <p:ph type="title"/>
          </p:nvPr>
        </p:nvSpPr>
        <p:spPr>
          <a:xfrm>
            <a:off x="850392" y="187452"/>
            <a:ext cx="10881360" cy="1069848"/>
          </a:xfrm>
        </p:spPr>
        <p:txBody>
          <a:bodyPr anchor="ctr"/>
          <a:lstStyle/>
          <a:p>
            <a:r>
              <a:rPr lang="en-US" sz="4000" b="1" spc="600" dirty="0">
                <a:ln w="28575">
                  <a:noFill/>
                  <a:prstDash val="solid"/>
                </a:ln>
                <a:solidFill>
                  <a:schemeClr val="bg1"/>
                </a:solidFill>
                <a:latin typeface="Tw Cen MT" panose="020B0602020104020603" pitchFamily="34" charset="77"/>
              </a:rPr>
              <a:t>Feature Engineering 2</a:t>
            </a:r>
          </a:p>
        </p:txBody>
      </p:sp>
      <p:sp>
        <p:nvSpPr>
          <p:cNvPr id="5" name="Slide Number Placeholder 4">
            <a:extLst>
              <a:ext uri="{FF2B5EF4-FFF2-40B4-BE49-F238E27FC236}">
                <a16:creationId xmlns:a16="http://schemas.microsoft.com/office/drawing/2014/main" id="{6FB519A0-FD54-8AAD-9C15-6B72539083DF}"/>
              </a:ext>
            </a:extLst>
          </p:cNvPr>
          <p:cNvSpPr>
            <a:spLocks noGrp="1"/>
          </p:cNvSpPr>
          <p:nvPr>
            <p:ph type="sldNum" sz="quarter" idx="11"/>
          </p:nvPr>
        </p:nvSpPr>
        <p:spPr/>
        <p:txBody>
          <a:bodyPr/>
          <a:lstStyle/>
          <a:p>
            <a:fld id="{294A09A9-5501-47C1-A89A-A340965A2BE2}" type="slidenum">
              <a:rPr lang="en-US" smtClean="0"/>
              <a:pPr/>
              <a:t>6</a:t>
            </a:fld>
            <a:endParaRPr lang="en-US" dirty="0"/>
          </a:p>
        </p:txBody>
      </p:sp>
      <p:sp>
        <p:nvSpPr>
          <p:cNvPr id="3" name="TextBox 2">
            <a:extLst>
              <a:ext uri="{FF2B5EF4-FFF2-40B4-BE49-F238E27FC236}">
                <a16:creationId xmlns:a16="http://schemas.microsoft.com/office/drawing/2014/main" id="{73D1139B-B62C-8676-8C33-306A00B0C608}"/>
              </a:ext>
            </a:extLst>
          </p:cNvPr>
          <p:cNvSpPr txBox="1"/>
          <p:nvPr/>
        </p:nvSpPr>
        <p:spPr>
          <a:xfrm>
            <a:off x="850391" y="1194297"/>
            <a:ext cx="3728235" cy="2585323"/>
          </a:xfrm>
          <a:prstGeom prst="rect">
            <a:avLst/>
          </a:prstGeom>
          <a:noFill/>
        </p:spPr>
        <p:txBody>
          <a:bodyPr wrap="square" rtlCol="0">
            <a:spAutoFit/>
          </a:bodyPr>
          <a:lstStyle/>
          <a:p>
            <a:pPr marL="742950" lvl="1" indent="-285750">
              <a:buFontTx/>
              <a:buChar char="-"/>
            </a:pPr>
            <a:r>
              <a:rPr lang="en-US" dirty="0">
                <a:solidFill>
                  <a:schemeClr val="bg1"/>
                </a:solidFill>
              </a:rPr>
              <a:t>Volatility 5</a:t>
            </a:r>
          </a:p>
          <a:p>
            <a:pPr marL="742950" lvl="1" indent="-285750">
              <a:buFontTx/>
              <a:buChar char="-"/>
            </a:pPr>
            <a:r>
              <a:rPr lang="en-US" dirty="0">
                <a:solidFill>
                  <a:schemeClr val="bg1"/>
                </a:solidFill>
              </a:rPr>
              <a:t>Volatility 10</a:t>
            </a:r>
          </a:p>
          <a:p>
            <a:pPr marL="742950" lvl="1" indent="-285750">
              <a:buFontTx/>
              <a:buChar char="-"/>
            </a:pPr>
            <a:r>
              <a:rPr lang="en-US" dirty="0">
                <a:solidFill>
                  <a:schemeClr val="bg1"/>
                </a:solidFill>
              </a:rPr>
              <a:t>Volatility 15</a:t>
            </a:r>
          </a:p>
          <a:p>
            <a:pPr marL="285750" indent="-285750">
              <a:buFontTx/>
              <a:buChar char="-"/>
            </a:pPr>
            <a:r>
              <a:rPr lang="en-US" dirty="0">
                <a:solidFill>
                  <a:schemeClr val="bg1"/>
                </a:solidFill>
              </a:rPr>
              <a:t>Volatility was calculated using rolling standard deviations of daily percentage. These features quantify how unstable price movements are over different windows.</a:t>
            </a:r>
          </a:p>
        </p:txBody>
      </p:sp>
      <p:sp>
        <p:nvSpPr>
          <p:cNvPr id="4" name="TextBox 3">
            <a:extLst>
              <a:ext uri="{FF2B5EF4-FFF2-40B4-BE49-F238E27FC236}">
                <a16:creationId xmlns:a16="http://schemas.microsoft.com/office/drawing/2014/main" id="{04A5E11D-90CD-7184-FA95-4D73D67CA517}"/>
              </a:ext>
            </a:extLst>
          </p:cNvPr>
          <p:cNvSpPr txBox="1"/>
          <p:nvPr/>
        </p:nvSpPr>
        <p:spPr>
          <a:xfrm>
            <a:off x="4397502" y="1194297"/>
            <a:ext cx="3396996" cy="2031325"/>
          </a:xfrm>
          <a:prstGeom prst="rect">
            <a:avLst/>
          </a:prstGeom>
          <a:noFill/>
        </p:spPr>
        <p:txBody>
          <a:bodyPr wrap="square" rtlCol="0">
            <a:spAutoFit/>
          </a:bodyPr>
          <a:lstStyle/>
          <a:p>
            <a:pPr marL="285750" indent="-285750">
              <a:buFontTx/>
              <a:buChar char="-"/>
            </a:pPr>
            <a:r>
              <a:rPr lang="en-US" dirty="0">
                <a:solidFill>
                  <a:schemeClr val="bg1"/>
                </a:solidFill>
              </a:rPr>
              <a:t>To avoid future data leakage, 2 new ranges were introduced</a:t>
            </a:r>
          </a:p>
          <a:p>
            <a:pPr marL="742950" lvl="1" indent="-285750">
              <a:buFontTx/>
              <a:buChar char="-"/>
            </a:pPr>
            <a:r>
              <a:rPr lang="en-US" dirty="0">
                <a:solidFill>
                  <a:schemeClr val="bg1"/>
                </a:solidFill>
              </a:rPr>
              <a:t>High Low</a:t>
            </a:r>
          </a:p>
          <a:p>
            <a:pPr marL="742950" lvl="1" indent="-285750">
              <a:buFontTx/>
              <a:buChar char="-"/>
            </a:pPr>
            <a:r>
              <a:rPr lang="en-US" dirty="0">
                <a:solidFill>
                  <a:schemeClr val="bg1"/>
                </a:solidFill>
              </a:rPr>
              <a:t>Open Close</a:t>
            </a:r>
          </a:p>
          <a:p>
            <a:pPr marL="285750" indent="-285750">
              <a:buFontTx/>
              <a:buChar char="-"/>
            </a:pPr>
            <a:r>
              <a:rPr lang="en-US" dirty="0">
                <a:solidFill>
                  <a:schemeClr val="bg1"/>
                </a:solidFill>
              </a:rPr>
              <a:t>These features help represent daily price behavior without referencing future prices.</a:t>
            </a:r>
          </a:p>
        </p:txBody>
      </p:sp>
      <p:sp>
        <p:nvSpPr>
          <p:cNvPr id="6" name="TextBox 5">
            <a:extLst>
              <a:ext uri="{FF2B5EF4-FFF2-40B4-BE49-F238E27FC236}">
                <a16:creationId xmlns:a16="http://schemas.microsoft.com/office/drawing/2014/main" id="{45AD5D16-0AF2-E655-35C6-5D3B17D37DE5}"/>
              </a:ext>
            </a:extLst>
          </p:cNvPr>
          <p:cNvSpPr txBox="1"/>
          <p:nvPr/>
        </p:nvSpPr>
        <p:spPr>
          <a:xfrm>
            <a:off x="7639431" y="1194297"/>
            <a:ext cx="4247388" cy="2031325"/>
          </a:xfrm>
          <a:prstGeom prst="rect">
            <a:avLst/>
          </a:prstGeom>
          <a:noFill/>
        </p:spPr>
        <p:txBody>
          <a:bodyPr wrap="square" rtlCol="0">
            <a:spAutoFit/>
          </a:bodyPr>
          <a:lstStyle/>
          <a:p>
            <a:pPr marL="742950" lvl="1" indent="-285750">
              <a:buFontTx/>
              <a:buChar char="-"/>
            </a:pPr>
            <a:r>
              <a:rPr lang="en-US" dirty="0">
                <a:solidFill>
                  <a:schemeClr val="bg1"/>
                </a:solidFill>
              </a:rPr>
              <a:t>Moving Average Convergence Divergence (MACD)</a:t>
            </a:r>
          </a:p>
          <a:p>
            <a:pPr marL="1200150" lvl="2" indent="-285750">
              <a:buFontTx/>
              <a:buChar char="-"/>
            </a:pPr>
            <a:r>
              <a:rPr lang="en-US" dirty="0">
                <a:solidFill>
                  <a:schemeClr val="bg1"/>
                </a:solidFill>
              </a:rPr>
              <a:t>Line</a:t>
            </a:r>
          </a:p>
          <a:p>
            <a:pPr marL="1200150" lvl="2" indent="-285750">
              <a:buFontTx/>
              <a:buChar char="-"/>
            </a:pPr>
            <a:r>
              <a:rPr lang="en-US" dirty="0">
                <a:solidFill>
                  <a:schemeClr val="bg1"/>
                </a:solidFill>
              </a:rPr>
              <a:t>Signal Line</a:t>
            </a:r>
          </a:p>
          <a:p>
            <a:pPr marL="1200150" lvl="2" indent="-285750">
              <a:buFontTx/>
              <a:buChar char="-"/>
            </a:pPr>
            <a:r>
              <a:rPr lang="en-US" dirty="0">
                <a:solidFill>
                  <a:schemeClr val="bg1"/>
                </a:solidFill>
              </a:rPr>
              <a:t>Difference</a:t>
            </a:r>
          </a:p>
          <a:p>
            <a:pPr marL="742950" lvl="1" indent="-285750">
              <a:buFontTx/>
              <a:buChar char="-"/>
            </a:pPr>
            <a:r>
              <a:rPr lang="en-US" dirty="0">
                <a:solidFill>
                  <a:schemeClr val="bg1"/>
                </a:solidFill>
              </a:rPr>
              <a:t>MACD provides a non-linear trend-following signal.</a:t>
            </a:r>
          </a:p>
        </p:txBody>
      </p:sp>
      <p:sp>
        <p:nvSpPr>
          <p:cNvPr id="12" name="TextBox 11">
            <a:extLst>
              <a:ext uri="{FF2B5EF4-FFF2-40B4-BE49-F238E27FC236}">
                <a16:creationId xmlns:a16="http://schemas.microsoft.com/office/drawing/2014/main" id="{E903F977-355D-AAE1-26C7-30417F3F02E0}"/>
              </a:ext>
            </a:extLst>
          </p:cNvPr>
          <p:cNvSpPr txBox="1"/>
          <p:nvPr/>
        </p:nvSpPr>
        <p:spPr>
          <a:xfrm>
            <a:off x="669267" y="4023637"/>
            <a:ext cx="3728235" cy="1754326"/>
          </a:xfrm>
          <a:prstGeom prst="rect">
            <a:avLst/>
          </a:prstGeom>
          <a:noFill/>
        </p:spPr>
        <p:txBody>
          <a:bodyPr wrap="square" rtlCol="0">
            <a:spAutoFit/>
          </a:bodyPr>
          <a:lstStyle/>
          <a:p>
            <a:pPr marL="285750" indent="-285750">
              <a:buFontTx/>
              <a:buChar char="-"/>
            </a:pPr>
            <a:r>
              <a:rPr lang="en-US" dirty="0">
                <a:solidFill>
                  <a:schemeClr val="bg1"/>
                </a:solidFill>
              </a:rPr>
              <a:t>Time Based Features</a:t>
            </a:r>
          </a:p>
          <a:p>
            <a:pPr marL="742950" lvl="1" indent="-285750">
              <a:buFontTx/>
              <a:buChar char="-"/>
            </a:pPr>
            <a:r>
              <a:rPr lang="en-US" dirty="0">
                <a:solidFill>
                  <a:schemeClr val="bg1"/>
                </a:solidFill>
              </a:rPr>
              <a:t>Day of the week</a:t>
            </a:r>
          </a:p>
          <a:p>
            <a:pPr marL="742950" lvl="1" indent="-285750">
              <a:buFontTx/>
              <a:buChar char="-"/>
            </a:pPr>
            <a:r>
              <a:rPr lang="en-US" dirty="0">
                <a:solidFill>
                  <a:schemeClr val="bg1"/>
                </a:solidFill>
              </a:rPr>
              <a:t>Month of the year</a:t>
            </a:r>
          </a:p>
          <a:p>
            <a:pPr marL="285750" indent="-285750">
              <a:buFontTx/>
              <a:buChar char="-"/>
            </a:pPr>
            <a:r>
              <a:rPr lang="en-US" dirty="0">
                <a:solidFill>
                  <a:schemeClr val="bg1"/>
                </a:solidFill>
              </a:rPr>
              <a:t>These were introduced to help the model follow day or month patterns</a:t>
            </a:r>
          </a:p>
        </p:txBody>
      </p:sp>
      <p:sp>
        <p:nvSpPr>
          <p:cNvPr id="13" name="TextBox 12">
            <a:extLst>
              <a:ext uri="{FF2B5EF4-FFF2-40B4-BE49-F238E27FC236}">
                <a16:creationId xmlns:a16="http://schemas.microsoft.com/office/drawing/2014/main" id="{C7EE71B9-D157-10BF-E9B1-6988EBEFE7A4}"/>
              </a:ext>
            </a:extLst>
          </p:cNvPr>
          <p:cNvSpPr txBox="1"/>
          <p:nvPr/>
        </p:nvSpPr>
        <p:spPr>
          <a:xfrm>
            <a:off x="4397502" y="4023637"/>
            <a:ext cx="3728235" cy="923330"/>
          </a:xfrm>
          <a:prstGeom prst="rect">
            <a:avLst/>
          </a:prstGeom>
          <a:noFill/>
        </p:spPr>
        <p:txBody>
          <a:bodyPr wrap="square" rtlCol="0">
            <a:spAutoFit/>
          </a:bodyPr>
          <a:lstStyle/>
          <a:p>
            <a:pPr marL="285750" indent="-285750">
              <a:buFontTx/>
              <a:buChar char="-"/>
            </a:pPr>
            <a:r>
              <a:rPr lang="en-US" dirty="0">
                <a:solidFill>
                  <a:schemeClr val="bg1"/>
                </a:solidFill>
              </a:rPr>
              <a:t>NaNs where intentionally left in to test the models’ abilities to handle nulls</a:t>
            </a:r>
          </a:p>
        </p:txBody>
      </p:sp>
    </p:spTree>
    <p:extLst>
      <p:ext uri="{BB962C8B-B14F-4D97-AF65-F5344CB8AC3E}">
        <p14:creationId xmlns:p14="http://schemas.microsoft.com/office/powerpoint/2010/main" val="4237416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E32BD-8584-FA6F-F8E2-6FD33BC66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0B7E4-A3C1-0410-490C-D8F786120A13}"/>
              </a:ext>
            </a:extLst>
          </p:cNvPr>
          <p:cNvSpPr>
            <a:spLocks noGrp="1"/>
          </p:cNvSpPr>
          <p:nvPr>
            <p:ph type="title"/>
          </p:nvPr>
        </p:nvSpPr>
        <p:spPr>
          <a:xfrm>
            <a:off x="-910325" y="187452"/>
            <a:ext cx="10881360" cy="1069848"/>
          </a:xfrm>
        </p:spPr>
        <p:txBody>
          <a:bodyPr anchor="ctr"/>
          <a:lstStyle/>
          <a:p>
            <a:r>
              <a:rPr lang="en-US" sz="4000" b="1" spc="600" dirty="0">
                <a:ln w="28575">
                  <a:noFill/>
                  <a:prstDash val="solid"/>
                </a:ln>
                <a:solidFill>
                  <a:schemeClr val="bg1"/>
                </a:solidFill>
                <a:latin typeface="Tw Cen MT" panose="020B0602020104020603" pitchFamily="34" charset="77"/>
              </a:rPr>
              <a:t>Feature Engineering 3</a:t>
            </a:r>
          </a:p>
        </p:txBody>
      </p:sp>
      <p:sp>
        <p:nvSpPr>
          <p:cNvPr id="5" name="Slide Number Placeholder 4">
            <a:extLst>
              <a:ext uri="{FF2B5EF4-FFF2-40B4-BE49-F238E27FC236}">
                <a16:creationId xmlns:a16="http://schemas.microsoft.com/office/drawing/2014/main" id="{10EFF9E2-8A3E-E3A0-4507-7357202DA075}"/>
              </a:ext>
            </a:extLst>
          </p:cNvPr>
          <p:cNvSpPr>
            <a:spLocks noGrp="1"/>
          </p:cNvSpPr>
          <p:nvPr>
            <p:ph type="sldNum" sz="quarter" idx="11"/>
          </p:nvPr>
        </p:nvSpPr>
        <p:spPr/>
        <p:txBody>
          <a:bodyPr/>
          <a:lstStyle/>
          <a:p>
            <a:fld id="{294A09A9-5501-47C1-A89A-A340965A2BE2}" type="slidenum">
              <a:rPr lang="en-US" smtClean="0"/>
              <a:pPr/>
              <a:t>7</a:t>
            </a:fld>
            <a:endParaRPr lang="en-US" dirty="0"/>
          </a:p>
        </p:txBody>
      </p:sp>
      <p:sp>
        <p:nvSpPr>
          <p:cNvPr id="3" name="TextBox 2">
            <a:extLst>
              <a:ext uri="{FF2B5EF4-FFF2-40B4-BE49-F238E27FC236}">
                <a16:creationId xmlns:a16="http://schemas.microsoft.com/office/drawing/2014/main" id="{9A85B80C-BDC1-AA64-D225-1381E71886F5}"/>
              </a:ext>
            </a:extLst>
          </p:cNvPr>
          <p:cNvSpPr txBox="1"/>
          <p:nvPr/>
        </p:nvSpPr>
        <p:spPr>
          <a:xfrm>
            <a:off x="688350" y="1174419"/>
            <a:ext cx="7684009" cy="5026697"/>
          </a:xfrm>
          <a:prstGeom prst="rect">
            <a:avLst/>
          </a:prstGeom>
          <a:noFill/>
        </p:spPr>
        <p:txBody>
          <a:bodyPr wrap="square" rtlCol="0">
            <a:spAutoFit/>
          </a:bodyPr>
          <a:lstStyle/>
          <a:p>
            <a:pPr marL="285750" indent="-285750">
              <a:lnSpc>
                <a:spcPct val="150000"/>
              </a:lnSpc>
              <a:buFontTx/>
              <a:buChar char="-"/>
            </a:pPr>
            <a:r>
              <a:rPr lang="en-US" dirty="0">
                <a:solidFill>
                  <a:schemeClr val="bg1"/>
                </a:solidFill>
              </a:rPr>
              <a:t>“Change” output Column</a:t>
            </a:r>
          </a:p>
          <a:p>
            <a:pPr marL="742950" lvl="1" indent="-285750">
              <a:lnSpc>
                <a:spcPct val="150000"/>
              </a:lnSpc>
              <a:buFontTx/>
              <a:buChar char="-"/>
            </a:pPr>
            <a:r>
              <a:rPr lang="en-US" dirty="0">
                <a:solidFill>
                  <a:schemeClr val="bg1"/>
                </a:solidFill>
              </a:rPr>
              <a:t>This column was created because this is a classification problem, where the models are supposed to predict whether the price of the next day is going to go “UP” or “DOWN”</a:t>
            </a:r>
          </a:p>
          <a:p>
            <a:pPr marL="742950" lvl="1" indent="-285750">
              <a:lnSpc>
                <a:spcPct val="150000"/>
              </a:lnSpc>
              <a:buFontTx/>
              <a:buChar char="-"/>
            </a:pPr>
            <a:r>
              <a:rPr lang="en-US" dirty="0">
                <a:solidFill>
                  <a:schemeClr val="bg1"/>
                </a:solidFill>
              </a:rPr>
              <a:t>It was created using the Close column, which was then dropped from the dataset to prevent leakage</a:t>
            </a:r>
          </a:p>
          <a:p>
            <a:pPr marL="742950" lvl="1" indent="-285750">
              <a:lnSpc>
                <a:spcPct val="150000"/>
              </a:lnSpc>
              <a:buFontTx/>
              <a:buChar char="-"/>
            </a:pPr>
            <a:r>
              <a:rPr lang="en-US" dirty="0">
                <a:solidFill>
                  <a:schemeClr val="bg1"/>
                </a:solidFill>
              </a:rPr>
              <a:t>A threshold of 0.5% was introduced so that small changes in the close price doesn’t change the UP or DOWN</a:t>
            </a:r>
          </a:p>
          <a:p>
            <a:pPr marL="742950" lvl="1" indent="-285750">
              <a:lnSpc>
                <a:spcPct val="150000"/>
              </a:lnSpc>
              <a:buFontTx/>
              <a:buChar char="-"/>
            </a:pPr>
            <a:r>
              <a:rPr lang="en-US" dirty="0">
                <a:solidFill>
                  <a:schemeClr val="bg1"/>
                </a:solidFill>
              </a:rPr>
              <a:t>If the next day’s closing price increased by more than 0.5%, then Change is UP, otherwise DOWN  </a:t>
            </a:r>
          </a:p>
          <a:p>
            <a:pPr marL="742950" lvl="1" indent="-285750">
              <a:lnSpc>
                <a:spcPct val="150000"/>
              </a:lnSpc>
              <a:buFontTx/>
              <a:buChar char="-"/>
            </a:pPr>
            <a:r>
              <a:rPr lang="en-US" dirty="0">
                <a:solidFill>
                  <a:schemeClr val="bg1"/>
                </a:solidFill>
              </a:rPr>
              <a:t>The last row of the dataset was removed since it has no future value to compare against.</a:t>
            </a:r>
          </a:p>
        </p:txBody>
      </p:sp>
      <p:pic>
        <p:nvPicPr>
          <p:cNvPr id="8" name="Picture 7" descr="A screen shot of a computer&#10;&#10;AI-generated content may be incorrect.">
            <a:extLst>
              <a:ext uri="{FF2B5EF4-FFF2-40B4-BE49-F238E27FC236}">
                <a16:creationId xmlns:a16="http://schemas.microsoft.com/office/drawing/2014/main" id="{827831DF-2AA2-B067-71AF-E78FC29AD5C0}"/>
              </a:ext>
            </a:extLst>
          </p:cNvPr>
          <p:cNvPicPr>
            <a:picLocks noChangeAspect="1"/>
          </p:cNvPicPr>
          <p:nvPr/>
        </p:nvPicPr>
        <p:blipFill>
          <a:blip r:embed="rId2"/>
          <a:stretch>
            <a:fillRect/>
          </a:stretch>
        </p:blipFill>
        <p:spPr>
          <a:xfrm>
            <a:off x="8441635" y="0"/>
            <a:ext cx="3750365" cy="6858000"/>
          </a:xfrm>
          <a:prstGeom prst="rect">
            <a:avLst/>
          </a:prstGeom>
        </p:spPr>
      </p:pic>
    </p:spTree>
    <p:extLst>
      <p:ext uri="{BB962C8B-B14F-4D97-AF65-F5344CB8AC3E}">
        <p14:creationId xmlns:p14="http://schemas.microsoft.com/office/powerpoint/2010/main" val="348274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ctrTitle"/>
          </p:nvPr>
        </p:nvSpPr>
        <p:spPr/>
        <p:txBody>
          <a:bodyPr/>
          <a:lstStyle/>
          <a:p>
            <a:r>
              <a:rPr lang="en-US" dirty="0"/>
              <a:t>Model Strategy</a:t>
            </a:r>
          </a:p>
        </p:txBody>
      </p:sp>
      <p:sp>
        <p:nvSpPr>
          <p:cNvPr id="3" name="Subtitle 2">
            <a:extLst>
              <a:ext uri="{FF2B5EF4-FFF2-40B4-BE49-F238E27FC236}">
                <a16:creationId xmlns:a16="http://schemas.microsoft.com/office/drawing/2014/main" id="{C05FF0B8-5B51-7376-0271-8D849CA3F8A8}"/>
              </a:ext>
            </a:extLst>
          </p:cNvPr>
          <p:cNvSpPr>
            <a:spLocks noGrp="1"/>
          </p:cNvSpPr>
          <p:nvPr>
            <p:ph type="subTitle" idx="1"/>
          </p:nvPr>
        </p:nvSpPr>
        <p:spPr>
          <a:xfrm>
            <a:off x="1736035" y="3803904"/>
            <a:ext cx="8693425" cy="1821644"/>
          </a:xfrm>
        </p:spPr>
        <p:txBody>
          <a:bodyPr/>
          <a:lstStyle/>
          <a:p>
            <a:r>
              <a:rPr lang="en-US" dirty="0"/>
              <a:t>Multiple classification metrics will be used for evaluation to get the best possible result. (Accuracy, F1, etc.)</a:t>
            </a:r>
          </a:p>
          <a:p>
            <a:r>
              <a:rPr lang="en-US" dirty="0"/>
              <a:t>Multiple splitting methods will also be used depending on the model. (Kfold, TimeSeriesSplit, etc.)</a:t>
            </a:r>
          </a:p>
        </p:txBody>
      </p:sp>
    </p:spTree>
    <p:extLst>
      <p:ext uri="{BB962C8B-B14F-4D97-AF65-F5344CB8AC3E}">
        <p14:creationId xmlns:p14="http://schemas.microsoft.com/office/powerpoint/2010/main" val="548476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0B07383B-6310-56A6-B051-F4B962E11786}"/>
              </a:ext>
            </a:extLst>
          </p:cNvPr>
          <p:cNvSpPr>
            <a:spLocks noGrp="1"/>
          </p:cNvSpPr>
          <p:nvPr>
            <p:ph type="title"/>
          </p:nvPr>
        </p:nvSpPr>
        <p:spPr>
          <a:xfrm>
            <a:off x="1656588" y="136365"/>
            <a:ext cx="8878824" cy="1069848"/>
          </a:xfrm>
        </p:spPr>
        <p:txBody>
          <a:bodyPr/>
          <a:lstStyle/>
          <a:p>
            <a:r>
              <a:rPr lang="en-US" dirty="0"/>
              <a:t>Supervised Models 1</a:t>
            </a:r>
          </a:p>
        </p:txBody>
      </p:sp>
      <p:sp>
        <p:nvSpPr>
          <p:cNvPr id="4" name="Text Placeholder 3">
            <a:extLst>
              <a:ext uri="{FF2B5EF4-FFF2-40B4-BE49-F238E27FC236}">
                <a16:creationId xmlns:a16="http://schemas.microsoft.com/office/drawing/2014/main" id="{55DA2D8B-92F5-22B2-084C-934BCBC00DFD}"/>
              </a:ext>
            </a:extLst>
          </p:cNvPr>
          <p:cNvSpPr>
            <a:spLocks noGrp="1"/>
          </p:cNvSpPr>
          <p:nvPr>
            <p:ph type="body" sz="quarter" idx="12"/>
          </p:nvPr>
        </p:nvSpPr>
        <p:spPr/>
        <p:txBody>
          <a:bodyPr/>
          <a:lstStyle/>
          <a:p>
            <a:r>
              <a:rPr lang="en-US" dirty="0"/>
              <a:t>Decision Tree</a:t>
            </a:r>
          </a:p>
        </p:txBody>
      </p:sp>
      <p:sp>
        <p:nvSpPr>
          <p:cNvPr id="5" name="Text Placeholder 4">
            <a:extLst>
              <a:ext uri="{FF2B5EF4-FFF2-40B4-BE49-F238E27FC236}">
                <a16:creationId xmlns:a16="http://schemas.microsoft.com/office/drawing/2014/main" id="{8B004B5D-BB88-E446-FDC1-8BE748EFE8B6}"/>
              </a:ext>
            </a:extLst>
          </p:cNvPr>
          <p:cNvSpPr>
            <a:spLocks noGrp="1"/>
          </p:cNvSpPr>
          <p:nvPr>
            <p:ph type="body" sz="quarter" idx="13"/>
          </p:nvPr>
        </p:nvSpPr>
        <p:spPr/>
        <p:txBody>
          <a:bodyPr/>
          <a:lstStyle/>
          <a:p>
            <a:pPr marL="285750" indent="-285750">
              <a:lnSpc>
                <a:spcPct val="200000"/>
              </a:lnSpc>
              <a:buFont typeface="Arial" panose="020B0604020202020204" pitchFamily="34" charset="0"/>
              <a:buChar char="•"/>
            </a:pPr>
            <a:r>
              <a:rPr lang="en-US" sz="1600" dirty="0"/>
              <a:t>Default (Gini)</a:t>
            </a:r>
          </a:p>
          <a:p>
            <a:pPr marL="285750" indent="-285750">
              <a:lnSpc>
                <a:spcPct val="200000"/>
              </a:lnSpc>
              <a:buFont typeface="Arial" panose="020B0604020202020204" pitchFamily="34" charset="0"/>
              <a:buChar char="•"/>
            </a:pPr>
            <a:r>
              <a:rPr lang="en-US" sz="1600" dirty="0"/>
              <a:t>Tuned Entropy</a:t>
            </a:r>
          </a:p>
          <a:p>
            <a:pPr marL="285750" indent="-285750">
              <a:lnSpc>
                <a:spcPct val="200000"/>
              </a:lnSpc>
              <a:buFont typeface="Arial" panose="020B0604020202020204" pitchFamily="34" charset="0"/>
              <a:buChar char="•"/>
            </a:pPr>
            <a:r>
              <a:rPr lang="en-US" sz="1600" dirty="0"/>
              <a:t>Tuned Gini</a:t>
            </a:r>
          </a:p>
        </p:txBody>
      </p:sp>
      <p:sp>
        <p:nvSpPr>
          <p:cNvPr id="6" name="Text Placeholder 5">
            <a:extLst>
              <a:ext uri="{FF2B5EF4-FFF2-40B4-BE49-F238E27FC236}">
                <a16:creationId xmlns:a16="http://schemas.microsoft.com/office/drawing/2014/main" id="{98AC0C5B-16A7-E317-7222-BF9FA26C0DC6}"/>
              </a:ext>
            </a:extLst>
          </p:cNvPr>
          <p:cNvSpPr>
            <a:spLocks noGrp="1"/>
          </p:cNvSpPr>
          <p:nvPr>
            <p:ph type="body" sz="quarter" idx="14"/>
          </p:nvPr>
        </p:nvSpPr>
        <p:spPr/>
        <p:txBody>
          <a:bodyPr/>
          <a:lstStyle/>
          <a:p>
            <a:r>
              <a:rPr lang="en-US" dirty="0"/>
              <a:t>Random Forest</a:t>
            </a:r>
          </a:p>
        </p:txBody>
      </p:sp>
      <p:sp>
        <p:nvSpPr>
          <p:cNvPr id="7" name="Text Placeholder 6">
            <a:extLst>
              <a:ext uri="{FF2B5EF4-FFF2-40B4-BE49-F238E27FC236}">
                <a16:creationId xmlns:a16="http://schemas.microsoft.com/office/drawing/2014/main" id="{77D9B67F-AD02-4BA5-209B-C91070303A72}"/>
              </a:ext>
            </a:extLst>
          </p:cNvPr>
          <p:cNvSpPr>
            <a:spLocks noGrp="1"/>
          </p:cNvSpPr>
          <p:nvPr>
            <p:ph type="body" sz="quarter" idx="15"/>
          </p:nvPr>
        </p:nvSpPr>
        <p:spPr/>
        <p:txBody>
          <a:bodyPr/>
          <a:lstStyle/>
          <a:p>
            <a:pPr marL="285750" indent="-285750">
              <a:lnSpc>
                <a:spcPct val="200000"/>
              </a:lnSpc>
              <a:buClr>
                <a:schemeClr val="accent1"/>
              </a:buClr>
              <a:buFont typeface="Arial" panose="020B0604020202020204" pitchFamily="34" charset="0"/>
              <a:buChar char="•"/>
            </a:pPr>
            <a:r>
              <a:rPr lang="en-US" sz="1600" dirty="0"/>
              <a:t>Default (Gini)</a:t>
            </a:r>
          </a:p>
          <a:p>
            <a:pPr marL="285750" indent="-285750">
              <a:lnSpc>
                <a:spcPct val="200000"/>
              </a:lnSpc>
              <a:buClr>
                <a:schemeClr val="accent1"/>
              </a:buClr>
              <a:buFont typeface="Arial" panose="020B0604020202020204" pitchFamily="34" charset="0"/>
              <a:buChar char="•"/>
            </a:pPr>
            <a:r>
              <a:rPr lang="en-US" sz="1600" dirty="0"/>
              <a:t>Tuned Entropy</a:t>
            </a:r>
          </a:p>
          <a:p>
            <a:pPr marL="285750" indent="-285750">
              <a:lnSpc>
                <a:spcPct val="200000"/>
              </a:lnSpc>
              <a:buClr>
                <a:schemeClr val="accent1"/>
              </a:buClr>
              <a:buFont typeface="Arial" panose="020B0604020202020204" pitchFamily="34" charset="0"/>
              <a:buChar char="•"/>
            </a:pPr>
            <a:r>
              <a:rPr lang="en-US" sz="1600" dirty="0"/>
              <a:t>Tuned Gini</a:t>
            </a:r>
          </a:p>
        </p:txBody>
      </p:sp>
      <p:sp>
        <p:nvSpPr>
          <p:cNvPr id="8" name="Text Placeholder 7">
            <a:extLst>
              <a:ext uri="{FF2B5EF4-FFF2-40B4-BE49-F238E27FC236}">
                <a16:creationId xmlns:a16="http://schemas.microsoft.com/office/drawing/2014/main" id="{6269FBD2-F371-6F7E-1D42-95EFADFA10DD}"/>
              </a:ext>
            </a:extLst>
          </p:cNvPr>
          <p:cNvSpPr>
            <a:spLocks noGrp="1"/>
          </p:cNvSpPr>
          <p:nvPr>
            <p:ph type="body" sz="quarter" idx="16"/>
          </p:nvPr>
        </p:nvSpPr>
        <p:spPr>
          <a:xfrm>
            <a:off x="5047487" y="2478024"/>
            <a:ext cx="3135729" cy="704088"/>
          </a:xfrm>
        </p:spPr>
        <p:txBody>
          <a:bodyPr/>
          <a:lstStyle/>
          <a:p>
            <a:r>
              <a:rPr lang="en-US" dirty="0"/>
              <a:t>K-Nearest Neighbors</a:t>
            </a:r>
          </a:p>
        </p:txBody>
      </p:sp>
      <p:sp>
        <p:nvSpPr>
          <p:cNvPr id="9" name="Text Placeholder 8">
            <a:extLst>
              <a:ext uri="{FF2B5EF4-FFF2-40B4-BE49-F238E27FC236}">
                <a16:creationId xmlns:a16="http://schemas.microsoft.com/office/drawing/2014/main" id="{F039B280-D4F1-D5B7-9D62-C1DA10C605C9}"/>
              </a:ext>
            </a:extLst>
          </p:cNvPr>
          <p:cNvSpPr>
            <a:spLocks noGrp="1"/>
          </p:cNvSpPr>
          <p:nvPr>
            <p:ph type="body" sz="quarter" idx="17"/>
          </p:nvPr>
        </p:nvSpPr>
        <p:spPr>
          <a:xfrm>
            <a:off x="5052060" y="3236976"/>
            <a:ext cx="3131156" cy="1856232"/>
          </a:xfrm>
        </p:spPr>
        <p:txBody>
          <a:bodyPr/>
          <a:lstStyle/>
          <a:p>
            <a:pPr marL="285750" indent="-285750">
              <a:lnSpc>
                <a:spcPct val="200000"/>
              </a:lnSpc>
              <a:buClr>
                <a:schemeClr val="accent4"/>
              </a:buClr>
              <a:buFont typeface="Arial" panose="020B0604020202020204" pitchFamily="34" charset="0"/>
              <a:buChar char="•"/>
            </a:pPr>
            <a:r>
              <a:rPr lang="en-US" sz="1600" dirty="0"/>
              <a:t>K = 3</a:t>
            </a:r>
          </a:p>
          <a:p>
            <a:pPr marL="285750" indent="-285750">
              <a:lnSpc>
                <a:spcPct val="200000"/>
              </a:lnSpc>
              <a:buClr>
                <a:schemeClr val="accent4"/>
              </a:buClr>
              <a:buFont typeface="Arial" panose="020B0604020202020204" pitchFamily="34" charset="0"/>
              <a:buChar char="•"/>
            </a:pPr>
            <a:r>
              <a:rPr lang="en-US" sz="1600" dirty="0"/>
              <a:t>K = 8</a:t>
            </a:r>
          </a:p>
          <a:p>
            <a:pPr marL="285750" indent="-285750">
              <a:lnSpc>
                <a:spcPct val="200000"/>
              </a:lnSpc>
              <a:buClr>
                <a:schemeClr val="accent4"/>
              </a:buClr>
              <a:buFont typeface="Arial" panose="020B0604020202020204" pitchFamily="34" charset="0"/>
              <a:buChar char="•"/>
            </a:pPr>
            <a:r>
              <a:rPr lang="en-US" sz="1600" dirty="0"/>
              <a:t>K = √n</a:t>
            </a:r>
          </a:p>
        </p:txBody>
      </p:sp>
      <p:sp>
        <p:nvSpPr>
          <p:cNvPr id="81" name="Text Placeholder 80">
            <a:extLst>
              <a:ext uri="{FF2B5EF4-FFF2-40B4-BE49-F238E27FC236}">
                <a16:creationId xmlns:a16="http://schemas.microsoft.com/office/drawing/2014/main" id="{2AF0BD8F-E098-8282-AE8C-8BFAB5EBBFC2}"/>
              </a:ext>
            </a:extLst>
          </p:cNvPr>
          <p:cNvSpPr>
            <a:spLocks noGrp="1"/>
          </p:cNvSpPr>
          <p:nvPr>
            <p:ph type="body" sz="quarter" idx="20"/>
          </p:nvPr>
        </p:nvSpPr>
        <p:spPr>
          <a:xfrm>
            <a:off x="8257989" y="2478024"/>
            <a:ext cx="3297907" cy="702769"/>
          </a:xfrm>
        </p:spPr>
        <p:txBody>
          <a:bodyPr/>
          <a:lstStyle/>
          <a:p>
            <a:r>
              <a:rPr lang="en-US" sz="2400" b="1" dirty="0">
                <a:latin typeface="Tw Cen MT" panose="020B0602020104020603" pitchFamily="34" charset="77"/>
                <a:ea typeface="Source Sans Pro" panose="020B0503030403020204" pitchFamily="34" charset="0"/>
              </a:rPr>
              <a:t>Support Vector Machine</a:t>
            </a:r>
            <a:endParaRPr lang="en-US" dirty="0"/>
          </a:p>
        </p:txBody>
      </p:sp>
      <p:sp>
        <p:nvSpPr>
          <p:cNvPr id="2" name="Text Placeholder 1">
            <a:extLst>
              <a:ext uri="{FF2B5EF4-FFF2-40B4-BE49-F238E27FC236}">
                <a16:creationId xmlns:a16="http://schemas.microsoft.com/office/drawing/2014/main" id="{D733E31E-F298-485B-42BF-303CC635241F}"/>
              </a:ext>
            </a:extLst>
          </p:cNvPr>
          <p:cNvSpPr>
            <a:spLocks noGrp="1"/>
          </p:cNvSpPr>
          <p:nvPr>
            <p:ph type="body" sz="quarter" idx="21"/>
          </p:nvPr>
        </p:nvSpPr>
        <p:spPr>
          <a:xfrm>
            <a:off x="8253222" y="3236976"/>
            <a:ext cx="3297906" cy="1856232"/>
          </a:xfrm>
        </p:spPr>
        <p:txBody>
          <a:bodyPr/>
          <a:lstStyle/>
          <a:p>
            <a:pPr marL="285750" indent="-285750">
              <a:lnSpc>
                <a:spcPct val="200000"/>
              </a:lnSpc>
              <a:buClr>
                <a:schemeClr val="tx2"/>
              </a:buClr>
              <a:buFont typeface="Arial" panose="020B0604020202020204" pitchFamily="34" charset="0"/>
              <a:buChar char="•"/>
            </a:pPr>
            <a:r>
              <a:rPr lang="en-US" sz="1600" dirty="0"/>
              <a:t>Default RBF Kernel</a:t>
            </a:r>
          </a:p>
          <a:p>
            <a:pPr marL="285750" indent="-285750">
              <a:lnSpc>
                <a:spcPct val="200000"/>
              </a:lnSpc>
              <a:buClr>
                <a:schemeClr val="tx2"/>
              </a:buClr>
              <a:buFont typeface="Arial" panose="020B0604020202020204" pitchFamily="34" charset="0"/>
              <a:buChar char="•"/>
            </a:pPr>
            <a:r>
              <a:rPr lang="en-US" sz="1600" dirty="0"/>
              <a:t>Balanced with Linear Kernel</a:t>
            </a:r>
          </a:p>
          <a:p>
            <a:pPr marL="285750" indent="-285750">
              <a:lnSpc>
                <a:spcPct val="200000"/>
              </a:lnSpc>
              <a:buClr>
                <a:schemeClr val="tx2"/>
              </a:buClr>
              <a:buFont typeface="Arial" panose="020B0604020202020204" pitchFamily="34" charset="0"/>
              <a:buChar char="•"/>
            </a:pPr>
            <a:r>
              <a:rPr lang="en-US" sz="1600" dirty="0"/>
              <a:t>Balanced with RBF Kernel</a:t>
            </a:r>
          </a:p>
        </p:txBody>
      </p:sp>
      <p:sp>
        <p:nvSpPr>
          <p:cNvPr id="15" name="Title 68">
            <a:extLst>
              <a:ext uri="{FF2B5EF4-FFF2-40B4-BE49-F238E27FC236}">
                <a16:creationId xmlns:a16="http://schemas.microsoft.com/office/drawing/2014/main" id="{42D7AAE2-92A1-7423-7C3E-B4F911D6FEEC}"/>
              </a:ext>
            </a:extLst>
          </p:cNvPr>
          <p:cNvSpPr txBox="1">
            <a:spLocks/>
          </p:cNvSpPr>
          <p:nvPr/>
        </p:nvSpPr>
        <p:spPr>
          <a:xfrm>
            <a:off x="1656588" y="1261077"/>
            <a:ext cx="8878824" cy="10698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a:lstStyle>
          <a:p>
            <a:r>
              <a:rPr lang="en-US" sz="2800" dirty="0"/>
              <a:t>Models Used</a:t>
            </a:r>
          </a:p>
        </p:txBody>
      </p:sp>
    </p:spTree>
    <p:extLst>
      <p:ext uri="{BB962C8B-B14F-4D97-AF65-F5344CB8AC3E}">
        <p14:creationId xmlns:p14="http://schemas.microsoft.com/office/powerpoint/2010/main" val="1430138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79CF1F9-4847-1440-0352-6D1284A48D05}"/>
              </a:ext>
            </a:extLst>
          </p:cNvPr>
          <p:cNvSpPr>
            <a:spLocks noGrp="1"/>
          </p:cNvSpPr>
          <p:nvPr>
            <p:ph type="sldNum" sz="quarter" idx="11"/>
          </p:nvPr>
        </p:nvSpPr>
        <p:spPr/>
        <p:txBody>
          <a:bodyPr/>
          <a:lstStyle/>
          <a:p>
            <a:fld id="{294A09A9-5501-47C1-A89A-A340965A2BE2}" type="slidenum">
              <a:rPr lang="en-US" smtClean="0"/>
              <a:pPr/>
              <a:t>10</a:t>
            </a:fld>
            <a:endParaRPr lang="en-US" dirty="0"/>
          </a:p>
        </p:txBody>
      </p:sp>
      <p:graphicFrame>
        <p:nvGraphicFramePr>
          <p:cNvPr id="4" name="Table 4">
            <a:extLst>
              <a:ext uri="{FF2B5EF4-FFF2-40B4-BE49-F238E27FC236}">
                <a16:creationId xmlns:a16="http://schemas.microsoft.com/office/drawing/2014/main" id="{49C20947-A133-32C2-D0F4-654D337A74ED}"/>
              </a:ext>
            </a:extLst>
          </p:cNvPr>
          <p:cNvGraphicFramePr>
            <a:graphicFrameLocks noGrp="1"/>
          </p:cNvGraphicFramePr>
          <p:nvPr>
            <p:ph idx="1"/>
            <p:extLst>
              <p:ext uri="{D42A27DB-BD31-4B8C-83A1-F6EECF244321}">
                <p14:modId xmlns:p14="http://schemas.microsoft.com/office/powerpoint/2010/main" val="683904389"/>
              </p:ext>
            </p:extLst>
          </p:nvPr>
        </p:nvGraphicFramePr>
        <p:xfrm>
          <a:off x="1324266" y="2212975"/>
          <a:ext cx="9543469" cy="3028259"/>
        </p:xfrm>
        <a:graphic>
          <a:graphicData uri="http://schemas.openxmlformats.org/drawingml/2006/table">
            <a:tbl>
              <a:tblPr firstRow="1" lastCol="1" bandRow="1">
                <a:tableStyleId>{5C22544A-7EE6-4342-B048-85BDC9FD1C3A}</a:tableStyleId>
              </a:tblPr>
              <a:tblGrid>
                <a:gridCol w="925972">
                  <a:extLst>
                    <a:ext uri="{9D8B030D-6E8A-4147-A177-3AD203B41FA5}">
                      <a16:colId xmlns:a16="http://schemas.microsoft.com/office/drawing/2014/main" val="1689330750"/>
                    </a:ext>
                  </a:extLst>
                </a:gridCol>
                <a:gridCol w="2152890">
                  <a:extLst>
                    <a:ext uri="{9D8B030D-6E8A-4147-A177-3AD203B41FA5}">
                      <a16:colId xmlns:a16="http://schemas.microsoft.com/office/drawing/2014/main" val="2660631934"/>
                    </a:ext>
                  </a:extLst>
                </a:gridCol>
                <a:gridCol w="2164466">
                  <a:extLst>
                    <a:ext uri="{9D8B030D-6E8A-4147-A177-3AD203B41FA5}">
                      <a16:colId xmlns:a16="http://schemas.microsoft.com/office/drawing/2014/main" val="3909717689"/>
                    </a:ext>
                  </a:extLst>
                </a:gridCol>
                <a:gridCol w="2141317">
                  <a:extLst>
                    <a:ext uri="{9D8B030D-6E8A-4147-A177-3AD203B41FA5}">
                      <a16:colId xmlns:a16="http://schemas.microsoft.com/office/drawing/2014/main" val="1603189107"/>
                    </a:ext>
                  </a:extLst>
                </a:gridCol>
                <a:gridCol w="2158824">
                  <a:extLst>
                    <a:ext uri="{9D8B030D-6E8A-4147-A177-3AD203B41FA5}">
                      <a16:colId xmlns:a16="http://schemas.microsoft.com/office/drawing/2014/main" val="2755691855"/>
                    </a:ext>
                  </a:extLst>
                </a:gridCol>
              </a:tblGrid>
              <a:tr h="601036">
                <a:tc>
                  <a:txBody>
                    <a:bodyPr/>
                    <a:lstStyle/>
                    <a:p>
                      <a:pPr algn="ctr"/>
                      <a:endParaRPr lang="en-US" sz="2000" dirty="0">
                        <a:solidFill>
                          <a:schemeClr val="bg1"/>
                        </a:solidFill>
                        <a:latin typeface="Segoe UI" panose="020B0502040204020203" pitchFamily="34" charset="0"/>
                        <a:cs typeface="Segoe UI" panose="020B0502040204020203" pitchFamily="34" charset="0"/>
                      </a:endParaRP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2400" b="1" i="0" dirty="0">
                          <a:solidFill>
                            <a:schemeClr val="accent3">
                              <a:lumMod val="25000"/>
                            </a:schemeClr>
                          </a:solidFill>
                          <a:latin typeface="Tw Cen MT" panose="020B0602020104020603" pitchFamily="34" charset="77"/>
                          <a:cs typeface="Segoe UI Light" panose="020B0502040204020203" pitchFamily="34" charset="0"/>
                        </a:rPr>
                        <a:t>DT</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sz="2400" b="1" i="0" dirty="0">
                          <a:solidFill>
                            <a:schemeClr val="accent3">
                              <a:lumMod val="25000"/>
                            </a:schemeClr>
                          </a:solidFill>
                          <a:latin typeface="Tw Cen MT" panose="020B0602020104020603" pitchFamily="34" charset="77"/>
                          <a:cs typeface="Segoe UI Light" panose="020B0502040204020203" pitchFamily="34" charset="0"/>
                        </a:rPr>
                        <a:t>RF</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lvl="0" algn="ctr">
                        <a:buNone/>
                      </a:pPr>
                      <a:r>
                        <a:rPr lang="en-US" sz="2400" b="1" i="0" dirty="0">
                          <a:solidFill>
                            <a:schemeClr val="accent3">
                              <a:lumMod val="25000"/>
                            </a:schemeClr>
                          </a:solidFill>
                          <a:latin typeface="Tw Cen MT" panose="020B0602020104020603" pitchFamily="34" charset="77"/>
                          <a:cs typeface="Segoe UI Light" panose="020B0502040204020203" pitchFamily="34" charset="0"/>
                        </a:rPr>
                        <a:t>KNN</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lvl="0" algn="ctr">
                        <a:buNone/>
                      </a:pPr>
                      <a:r>
                        <a:rPr lang="en-US" sz="2400" b="1" i="0" u="none" strike="noStrike" noProof="0" dirty="0">
                          <a:solidFill>
                            <a:schemeClr val="accent3">
                              <a:lumMod val="25000"/>
                            </a:schemeClr>
                          </a:solidFill>
                          <a:latin typeface="Tw Cen MT" panose="020B0602020104020603" pitchFamily="34" charset="77"/>
                          <a:cs typeface="Segoe UI Light" panose="020B0502040204020203" pitchFamily="34" charset="0"/>
                        </a:rPr>
                        <a:t>SVM</a:t>
                      </a:r>
                      <a:endParaRPr lang="en-US" sz="2400" b="1" i="0" dirty="0">
                        <a:solidFill>
                          <a:schemeClr val="accent3">
                            <a:lumMod val="25000"/>
                          </a:schemeClr>
                        </a:solidFill>
                        <a:latin typeface="Tw Cen MT" panose="020B0602020104020603" pitchFamily="34" charset="77"/>
                        <a:cs typeface="Segoe UI Light" panose="020B0502040204020203" pitchFamily="34" charset="0"/>
                      </a:endParaRP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79928716"/>
                  </a:ext>
                </a:extLst>
              </a:tr>
              <a:tr h="799098">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Model 1</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~50%</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~55%</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~49%</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~56%</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extLst>
                  <a:ext uri="{0D108BD9-81ED-4DB2-BD59-A6C34878D82A}">
                    <a16:rowId xmlns:a16="http://schemas.microsoft.com/office/drawing/2014/main" val="1760208656"/>
                  </a:ext>
                </a:extLst>
              </a:tr>
              <a:tr h="802683">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Model 2</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~49%</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~54%</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~50%</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~55%</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634243071"/>
                  </a:ext>
                </a:extLst>
              </a:tr>
              <a:tr h="825442">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Model 3</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~52%</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~50%</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~55%</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~53%</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extLst>
                  <a:ext uri="{0D108BD9-81ED-4DB2-BD59-A6C34878D82A}">
                    <a16:rowId xmlns:a16="http://schemas.microsoft.com/office/drawing/2014/main" val="415808797"/>
                  </a:ext>
                </a:extLst>
              </a:tr>
            </a:tbl>
          </a:graphicData>
        </a:graphic>
      </p:graphicFrame>
      <p:sp>
        <p:nvSpPr>
          <p:cNvPr id="6" name="Title 68">
            <a:extLst>
              <a:ext uri="{FF2B5EF4-FFF2-40B4-BE49-F238E27FC236}">
                <a16:creationId xmlns:a16="http://schemas.microsoft.com/office/drawing/2014/main" id="{7D11370B-5AEB-EEA4-4987-A5A30EF429F5}"/>
              </a:ext>
            </a:extLst>
          </p:cNvPr>
          <p:cNvSpPr txBox="1">
            <a:spLocks/>
          </p:cNvSpPr>
          <p:nvPr/>
        </p:nvSpPr>
        <p:spPr>
          <a:xfrm>
            <a:off x="1656588" y="136365"/>
            <a:ext cx="8878824" cy="10698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a:lstStyle>
          <a:p>
            <a:r>
              <a:rPr lang="en-US" dirty="0"/>
              <a:t>Supervised Models 2</a:t>
            </a:r>
          </a:p>
        </p:txBody>
      </p:sp>
      <p:sp>
        <p:nvSpPr>
          <p:cNvPr id="9" name="Title 68">
            <a:extLst>
              <a:ext uri="{FF2B5EF4-FFF2-40B4-BE49-F238E27FC236}">
                <a16:creationId xmlns:a16="http://schemas.microsoft.com/office/drawing/2014/main" id="{D06BE26A-7CE8-0112-C15C-AD7201B1D229}"/>
              </a:ext>
            </a:extLst>
          </p:cNvPr>
          <p:cNvSpPr txBox="1">
            <a:spLocks/>
          </p:cNvSpPr>
          <p:nvPr/>
        </p:nvSpPr>
        <p:spPr>
          <a:xfrm>
            <a:off x="1632204" y="903268"/>
            <a:ext cx="8878824" cy="10698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a:lstStyle>
          <a:p>
            <a:r>
              <a:rPr lang="en-US" sz="2800" dirty="0"/>
              <a:t>Accuracy Scores</a:t>
            </a:r>
          </a:p>
        </p:txBody>
      </p:sp>
    </p:spTree>
    <p:extLst>
      <p:ext uri="{BB962C8B-B14F-4D97-AF65-F5344CB8AC3E}">
        <p14:creationId xmlns:p14="http://schemas.microsoft.com/office/powerpoint/2010/main" val="1208724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1F4F-6727-2547-F9FB-4E29691E737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A60C8CE-F6D0-87C1-EF74-CE0C84210712}"/>
              </a:ext>
            </a:extLst>
          </p:cNvPr>
          <p:cNvSpPr>
            <a:spLocks noGrp="1"/>
          </p:cNvSpPr>
          <p:nvPr>
            <p:ph type="sldNum" sz="quarter" idx="11"/>
          </p:nvPr>
        </p:nvSpPr>
        <p:spPr/>
        <p:txBody>
          <a:bodyPr/>
          <a:lstStyle/>
          <a:p>
            <a:fld id="{294A09A9-5501-47C1-A89A-A340965A2BE2}" type="slidenum">
              <a:rPr lang="en-US" smtClean="0"/>
              <a:pPr/>
              <a:t>11</a:t>
            </a:fld>
            <a:endParaRPr lang="en-US" dirty="0"/>
          </a:p>
        </p:txBody>
      </p:sp>
      <p:sp>
        <p:nvSpPr>
          <p:cNvPr id="6" name="Title 68">
            <a:extLst>
              <a:ext uri="{FF2B5EF4-FFF2-40B4-BE49-F238E27FC236}">
                <a16:creationId xmlns:a16="http://schemas.microsoft.com/office/drawing/2014/main" id="{5CEB102C-4324-40FC-4FBC-45884EEF60C7}"/>
              </a:ext>
            </a:extLst>
          </p:cNvPr>
          <p:cNvSpPr txBox="1">
            <a:spLocks/>
          </p:cNvSpPr>
          <p:nvPr/>
        </p:nvSpPr>
        <p:spPr>
          <a:xfrm>
            <a:off x="1656588" y="136365"/>
            <a:ext cx="8878824" cy="10698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a:lstStyle>
          <a:p>
            <a:r>
              <a:rPr lang="en-US" dirty="0"/>
              <a:t>Supervised Models 3</a:t>
            </a:r>
          </a:p>
        </p:txBody>
      </p:sp>
      <p:sp>
        <p:nvSpPr>
          <p:cNvPr id="9" name="Title 68">
            <a:extLst>
              <a:ext uri="{FF2B5EF4-FFF2-40B4-BE49-F238E27FC236}">
                <a16:creationId xmlns:a16="http://schemas.microsoft.com/office/drawing/2014/main" id="{1B016062-2B86-449A-8B55-0029F7CC78E3}"/>
              </a:ext>
            </a:extLst>
          </p:cNvPr>
          <p:cNvSpPr txBox="1">
            <a:spLocks/>
          </p:cNvSpPr>
          <p:nvPr/>
        </p:nvSpPr>
        <p:spPr>
          <a:xfrm>
            <a:off x="1632204" y="903268"/>
            <a:ext cx="8878824" cy="10698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a:lstStyle>
          <a:p>
            <a:r>
              <a:rPr lang="en-US" sz="2800" dirty="0"/>
              <a:t>Confusion Matrices</a:t>
            </a:r>
          </a:p>
        </p:txBody>
      </p:sp>
      <p:pic>
        <p:nvPicPr>
          <p:cNvPr id="23" name="Picture 22" descr="A screenshot of a computer screen&#10;&#10;AI-generated content may be incorrect.">
            <a:extLst>
              <a:ext uri="{FF2B5EF4-FFF2-40B4-BE49-F238E27FC236}">
                <a16:creationId xmlns:a16="http://schemas.microsoft.com/office/drawing/2014/main" id="{3E0A9A6D-68D1-B1D1-955E-876B3E6DC630}"/>
              </a:ext>
            </a:extLst>
          </p:cNvPr>
          <p:cNvPicPr>
            <a:picLocks noChangeAspect="1"/>
          </p:cNvPicPr>
          <p:nvPr/>
        </p:nvPicPr>
        <p:blipFill>
          <a:blip r:embed="rId2"/>
          <a:stretch>
            <a:fillRect/>
          </a:stretch>
        </p:blipFill>
        <p:spPr>
          <a:xfrm>
            <a:off x="0" y="2031876"/>
            <a:ext cx="12192000" cy="3492750"/>
          </a:xfrm>
          <a:prstGeom prst="rect">
            <a:avLst/>
          </a:prstGeom>
        </p:spPr>
      </p:pic>
      <p:sp>
        <p:nvSpPr>
          <p:cNvPr id="24" name="Rectangle 23">
            <a:extLst>
              <a:ext uri="{FF2B5EF4-FFF2-40B4-BE49-F238E27FC236}">
                <a16:creationId xmlns:a16="http://schemas.microsoft.com/office/drawing/2014/main" id="{8F3534DA-0A61-E966-28E3-88F1E6811B92}"/>
              </a:ext>
            </a:extLst>
          </p:cNvPr>
          <p:cNvSpPr/>
          <p:nvPr/>
        </p:nvSpPr>
        <p:spPr>
          <a:xfrm>
            <a:off x="275837" y="671289"/>
            <a:ext cx="776253" cy="1353312"/>
          </a:xfrm>
          <a:prstGeom prst="rect">
            <a:avLst/>
          </a:prstGeom>
          <a:solidFill>
            <a:srgbClr val="102857"/>
          </a:solidFill>
          <a:ln>
            <a:solidFill>
              <a:srgbClr val="1028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EA19671-FC5C-813D-5DAF-9A3B94C25684}"/>
              </a:ext>
            </a:extLst>
          </p:cNvPr>
          <p:cNvSpPr/>
          <p:nvPr/>
        </p:nvSpPr>
        <p:spPr>
          <a:xfrm>
            <a:off x="275836" y="5531901"/>
            <a:ext cx="776253" cy="1211799"/>
          </a:xfrm>
          <a:prstGeom prst="rect">
            <a:avLst/>
          </a:prstGeom>
          <a:solidFill>
            <a:srgbClr val="102857"/>
          </a:solidFill>
          <a:ln>
            <a:solidFill>
              <a:srgbClr val="1028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7658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C7F8962-79E5-C132-8DCE-ED09CDE257E0}"/>
              </a:ext>
            </a:extLst>
          </p:cNvPr>
          <p:cNvSpPr/>
          <p:nvPr/>
        </p:nvSpPr>
        <p:spPr>
          <a:xfrm>
            <a:off x="9786731" y="1499714"/>
            <a:ext cx="2067340" cy="4519570"/>
          </a:xfrm>
          <a:prstGeom prst="rect">
            <a:avLst/>
          </a:prstGeom>
          <a:solidFill>
            <a:srgbClr val="102857"/>
          </a:solidFill>
          <a:ln>
            <a:solidFill>
              <a:srgbClr val="1028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Slide Number Placeholder 138">
            <a:extLst>
              <a:ext uri="{FF2B5EF4-FFF2-40B4-BE49-F238E27FC236}">
                <a16:creationId xmlns:a16="http://schemas.microsoft.com/office/drawing/2014/main" id="{0C6CCCC3-BCC9-AE9B-C2AE-4D9986B5F8AE}"/>
              </a:ext>
            </a:extLst>
          </p:cNvPr>
          <p:cNvSpPr>
            <a:spLocks noGrp="1"/>
          </p:cNvSpPr>
          <p:nvPr>
            <p:ph type="sldNum" sz="quarter" idx="11"/>
          </p:nvPr>
        </p:nvSpPr>
        <p:spPr/>
        <p:txBody>
          <a:bodyPr/>
          <a:lstStyle/>
          <a:p>
            <a:fld id="{294A09A9-5501-47C1-A89A-A340965A2BE2}" type="slidenum">
              <a:rPr lang="en-US" smtClean="0"/>
              <a:pPr/>
              <a:t>12</a:t>
            </a:fld>
            <a:endParaRPr lang="en-US" dirty="0"/>
          </a:p>
        </p:txBody>
      </p:sp>
      <p:pic>
        <p:nvPicPr>
          <p:cNvPr id="90" name="Picture Placeholder 89" descr="Exponential Graph outline">
            <a:extLst>
              <a:ext uri="{FF2B5EF4-FFF2-40B4-BE49-F238E27FC236}">
                <a16:creationId xmlns:a16="http://schemas.microsoft.com/office/drawing/2014/main" id="{86472D92-CAA9-AF6F-549B-2EE170C70DD7}"/>
              </a:ext>
            </a:extLst>
          </p:cNvPr>
          <p:cNvPicPr>
            <a:picLocks noGrp="1" noChangeAspect="1"/>
          </p:cNvPicPr>
          <p:nvPr>
            <p:ph type="pic" sz="quarter" idx="26"/>
          </p:nvPr>
        </p:nvPicPr>
        <p:blipFill rotWithShape="1">
          <a:blip r:embed="rId2"/>
          <a:srcRect/>
          <a:stretch/>
        </p:blipFill>
        <p:spPr>
          <a:xfrm>
            <a:off x="10330245" y="3018954"/>
            <a:ext cx="621792" cy="621792"/>
          </a:xfrm>
        </p:spPr>
      </p:pic>
      <p:sp>
        <p:nvSpPr>
          <p:cNvPr id="3" name="Text Placeholder 2">
            <a:extLst>
              <a:ext uri="{FF2B5EF4-FFF2-40B4-BE49-F238E27FC236}">
                <a16:creationId xmlns:a16="http://schemas.microsoft.com/office/drawing/2014/main" id="{0CF4EECB-47E7-26A0-F3A1-ACAE7AEE5741}"/>
              </a:ext>
            </a:extLst>
          </p:cNvPr>
          <p:cNvSpPr>
            <a:spLocks noGrp="1"/>
          </p:cNvSpPr>
          <p:nvPr>
            <p:ph type="body" sz="quarter" idx="12"/>
          </p:nvPr>
        </p:nvSpPr>
        <p:spPr>
          <a:xfrm>
            <a:off x="1863502" y="4097606"/>
            <a:ext cx="1704797" cy="466344"/>
          </a:xfrm>
        </p:spPr>
        <p:txBody>
          <a:bodyPr/>
          <a:lstStyle/>
          <a:p>
            <a:r>
              <a:rPr lang="en-US" sz="2000" dirty="0"/>
              <a:t>Decision Tree</a:t>
            </a:r>
          </a:p>
        </p:txBody>
      </p:sp>
      <p:sp>
        <p:nvSpPr>
          <p:cNvPr id="5" name="Text Placeholder 4">
            <a:extLst>
              <a:ext uri="{FF2B5EF4-FFF2-40B4-BE49-F238E27FC236}">
                <a16:creationId xmlns:a16="http://schemas.microsoft.com/office/drawing/2014/main" id="{AC2F0535-53EA-30FB-770D-0C92BEEF3F6D}"/>
              </a:ext>
            </a:extLst>
          </p:cNvPr>
          <p:cNvSpPr>
            <a:spLocks noGrp="1"/>
          </p:cNvSpPr>
          <p:nvPr>
            <p:ph type="body" sz="quarter" idx="14"/>
          </p:nvPr>
        </p:nvSpPr>
        <p:spPr>
          <a:xfrm>
            <a:off x="3989566" y="4114206"/>
            <a:ext cx="1881808" cy="466344"/>
          </a:xfrm>
        </p:spPr>
        <p:txBody>
          <a:bodyPr/>
          <a:lstStyle/>
          <a:p>
            <a:pPr lvl="0"/>
            <a:r>
              <a:rPr lang="en-US" sz="2000" dirty="0"/>
              <a:t>Random Forest</a:t>
            </a:r>
          </a:p>
        </p:txBody>
      </p:sp>
      <p:sp>
        <p:nvSpPr>
          <p:cNvPr id="7" name="Text Placeholder 6">
            <a:extLst>
              <a:ext uri="{FF2B5EF4-FFF2-40B4-BE49-F238E27FC236}">
                <a16:creationId xmlns:a16="http://schemas.microsoft.com/office/drawing/2014/main" id="{31511481-29C6-275B-963E-B5AF2E87ADA2}"/>
              </a:ext>
            </a:extLst>
          </p:cNvPr>
          <p:cNvSpPr>
            <a:spLocks noGrp="1"/>
          </p:cNvSpPr>
          <p:nvPr>
            <p:ph type="body" sz="quarter" idx="16"/>
          </p:nvPr>
        </p:nvSpPr>
        <p:spPr>
          <a:xfrm>
            <a:off x="6662455" y="4090949"/>
            <a:ext cx="947529" cy="466344"/>
          </a:xfrm>
        </p:spPr>
        <p:txBody>
          <a:bodyPr/>
          <a:lstStyle/>
          <a:p>
            <a:pPr lvl="0"/>
            <a:r>
              <a:rPr lang="en-US" sz="2000" dirty="0"/>
              <a:t>KNN</a:t>
            </a:r>
          </a:p>
        </p:txBody>
      </p:sp>
      <p:sp>
        <p:nvSpPr>
          <p:cNvPr id="9" name="Text Placeholder 8">
            <a:extLst>
              <a:ext uri="{FF2B5EF4-FFF2-40B4-BE49-F238E27FC236}">
                <a16:creationId xmlns:a16="http://schemas.microsoft.com/office/drawing/2014/main" id="{2F32973A-CF94-1C2B-BB12-B563173CC79A}"/>
              </a:ext>
            </a:extLst>
          </p:cNvPr>
          <p:cNvSpPr>
            <a:spLocks noGrp="1"/>
          </p:cNvSpPr>
          <p:nvPr>
            <p:ph type="body" sz="quarter" idx="18"/>
          </p:nvPr>
        </p:nvSpPr>
        <p:spPr>
          <a:xfrm>
            <a:off x="8839202" y="4090949"/>
            <a:ext cx="1362456" cy="466344"/>
          </a:xfrm>
        </p:spPr>
        <p:txBody>
          <a:bodyPr/>
          <a:lstStyle/>
          <a:p>
            <a:pPr lvl="0"/>
            <a:r>
              <a:rPr lang="en-US" sz="2000" dirty="0"/>
              <a:t>SVM</a:t>
            </a:r>
          </a:p>
        </p:txBody>
      </p:sp>
      <p:sp>
        <p:nvSpPr>
          <p:cNvPr id="69" name="Text Placeholder 68">
            <a:extLst>
              <a:ext uri="{FF2B5EF4-FFF2-40B4-BE49-F238E27FC236}">
                <a16:creationId xmlns:a16="http://schemas.microsoft.com/office/drawing/2014/main" id="{4BBDF45D-9B32-0154-7602-2C43DAF6C0A6}"/>
              </a:ext>
            </a:extLst>
          </p:cNvPr>
          <p:cNvSpPr>
            <a:spLocks noGrp="1"/>
          </p:cNvSpPr>
          <p:nvPr>
            <p:ph type="body" sz="quarter" idx="13"/>
          </p:nvPr>
        </p:nvSpPr>
        <p:spPr>
          <a:xfrm>
            <a:off x="1901972" y="4617622"/>
            <a:ext cx="1593109" cy="740664"/>
          </a:xfrm>
        </p:spPr>
        <p:txBody>
          <a:bodyPr/>
          <a:lstStyle/>
          <a:p>
            <a:r>
              <a:rPr lang="en-US" dirty="0"/>
              <a:t>A single Decision Tree is not suitable for this dataset.</a:t>
            </a:r>
          </a:p>
        </p:txBody>
      </p:sp>
      <p:sp>
        <p:nvSpPr>
          <p:cNvPr id="70" name="Text Placeholder 69">
            <a:extLst>
              <a:ext uri="{FF2B5EF4-FFF2-40B4-BE49-F238E27FC236}">
                <a16:creationId xmlns:a16="http://schemas.microsoft.com/office/drawing/2014/main" id="{38FF6C9F-C7C5-37D5-4C61-BA14A636B732}"/>
              </a:ext>
            </a:extLst>
          </p:cNvPr>
          <p:cNvSpPr>
            <a:spLocks noGrp="1"/>
          </p:cNvSpPr>
          <p:nvPr>
            <p:ph type="body" sz="quarter" idx="15"/>
          </p:nvPr>
        </p:nvSpPr>
        <p:spPr>
          <a:xfrm>
            <a:off x="3946496" y="4617622"/>
            <a:ext cx="1967947" cy="1219961"/>
          </a:xfrm>
        </p:spPr>
        <p:txBody>
          <a:bodyPr/>
          <a:lstStyle/>
          <a:p>
            <a:r>
              <a:rPr lang="en-US" dirty="0"/>
              <a:t>Despite being stronger than single trees, Random Forests were still unreliable for this task."</a:t>
            </a:r>
          </a:p>
          <a:p>
            <a:endParaRPr lang="en-US" dirty="0"/>
          </a:p>
        </p:txBody>
      </p:sp>
      <p:sp>
        <p:nvSpPr>
          <p:cNvPr id="71" name="Text Placeholder 70">
            <a:extLst>
              <a:ext uri="{FF2B5EF4-FFF2-40B4-BE49-F238E27FC236}">
                <a16:creationId xmlns:a16="http://schemas.microsoft.com/office/drawing/2014/main" id="{5973BD56-1612-983E-EA67-F4039B062085}"/>
              </a:ext>
            </a:extLst>
          </p:cNvPr>
          <p:cNvSpPr>
            <a:spLocks noGrp="1"/>
          </p:cNvSpPr>
          <p:nvPr>
            <p:ph type="body" sz="quarter" idx="17"/>
          </p:nvPr>
        </p:nvSpPr>
        <p:spPr>
          <a:xfrm>
            <a:off x="6277559" y="4617621"/>
            <a:ext cx="1813631" cy="1531387"/>
          </a:xfrm>
        </p:spPr>
        <p:txBody>
          <a:bodyPr/>
          <a:lstStyle/>
          <a:p>
            <a:r>
              <a:rPr lang="en-US" dirty="0"/>
              <a:t>KNN consistently traded balance for accuracy and failed to generalize. It is not suitable for this dataset.</a:t>
            </a:r>
          </a:p>
        </p:txBody>
      </p:sp>
      <p:sp>
        <p:nvSpPr>
          <p:cNvPr id="72" name="Text Placeholder 71">
            <a:extLst>
              <a:ext uri="{FF2B5EF4-FFF2-40B4-BE49-F238E27FC236}">
                <a16:creationId xmlns:a16="http://schemas.microsoft.com/office/drawing/2014/main" id="{840CFADA-CAD6-2A04-5B15-5DB4DD6A84E0}"/>
              </a:ext>
            </a:extLst>
          </p:cNvPr>
          <p:cNvSpPr>
            <a:spLocks noGrp="1"/>
          </p:cNvSpPr>
          <p:nvPr>
            <p:ph type="body" sz="quarter" idx="19"/>
          </p:nvPr>
        </p:nvSpPr>
        <p:spPr>
          <a:xfrm>
            <a:off x="8399408" y="4617621"/>
            <a:ext cx="1997720" cy="1279595"/>
          </a:xfrm>
        </p:spPr>
        <p:txBody>
          <a:bodyPr/>
          <a:lstStyle/>
          <a:p>
            <a:r>
              <a:rPr lang="en-US" dirty="0"/>
              <a:t>The Balanced RBF SVM was the best-performing supervised model, though still not fully ideal.</a:t>
            </a:r>
          </a:p>
        </p:txBody>
      </p:sp>
      <p:pic>
        <p:nvPicPr>
          <p:cNvPr id="18" name="Picture Placeholder 17" descr="Fir tree outline">
            <a:extLst>
              <a:ext uri="{FF2B5EF4-FFF2-40B4-BE49-F238E27FC236}">
                <a16:creationId xmlns:a16="http://schemas.microsoft.com/office/drawing/2014/main" id="{3FD4BBC2-977A-BACD-41E6-A647FDC0FD94}"/>
              </a:ext>
            </a:extLst>
          </p:cNvPr>
          <p:cNvPicPr>
            <a:picLocks noGrp="1" noChangeAspect="1"/>
          </p:cNvPicPr>
          <p:nvPr>
            <p:ph type="pic" sz="quarter" idx="22"/>
          </p:nvPr>
        </p:nvPicPr>
        <p:blipFill>
          <a:blip r:embed="rId3">
            <a:extLst>
              <a:ext uri="{96DAC541-7B7A-43D3-8B79-37D633B846F1}">
                <asvg:svgBlip xmlns:asvg="http://schemas.microsoft.com/office/drawing/2016/SVG/main" r:embed="rId4"/>
              </a:ext>
            </a:extLst>
          </a:blip>
          <a:srcRect t="128" b="128"/>
          <a:stretch>
            <a:fillRect/>
          </a:stretch>
        </p:blipFill>
        <p:spPr/>
      </p:pic>
      <p:pic>
        <p:nvPicPr>
          <p:cNvPr id="22" name="Picture Placeholder 21" descr="Forest scene outline">
            <a:extLst>
              <a:ext uri="{FF2B5EF4-FFF2-40B4-BE49-F238E27FC236}">
                <a16:creationId xmlns:a16="http://schemas.microsoft.com/office/drawing/2014/main" id="{BB73A2C8-6CF1-C603-0AF9-A784F9E8B31B}"/>
              </a:ext>
            </a:extLst>
          </p:cNvPr>
          <p:cNvPicPr>
            <a:picLocks noGrp="1" noChangeAspect="1"/>
          </p:cNvPicPr>
          <p:nvPr>
            <p:ph type="pic" sz="quarter" idx="23"/>
          </p:nvPr>
        </p:nvPicPr>
        <p:blipFill>
          <a:blip r:embed="rId5">
            <a:extLst>
              <a:ext uri="{96DAC541-7B7A-43D3-8B79-37D633B846F1}">
                <asvg:svgBlip xmlns:asvg="http://schemas.microsoft.com/office/drawing/2016/SVG/main" r:embed="rId6"/>
              </a:ext>
            </a:extLst>
          </a:blip>
          <a:srcRect t="128" b="128"/>
          <a:stretch>
            <a:fillRect/>
          </a:stretch>
        </p:blipFill>
        <p:spPr/>
      </p:pic>
      <p:pic>
        <p:nvPicPr>
          <p:cNvPr id="26" name="Picture Placeholder 25" descr="Neighborhood outline">
            <a:extLst>
              <a:ext uri="{FF2B5EF4-FFF2-40B4-BE49-F238E27FC236}">
                <a16:creationId xmlns:a16="http://schemas.microsoft.com/office/drawing/2014/main" id="{A0088CBE-10FD-1537-4902-497079F63042}"/>
              </a:ext>
            </a:extLst>
          </p:cNvPr>
          <p:cNvPicPr>
            <a:picLocks noGrp="1" noChangeAspect="1"/>
          </p:cNvPicPr>
          <p:nvPr>
            <p:ph type="pic" sz="quarter" idx="24"/>
          </p:nvPr>
        </p:nvPicPr>
        <p:blipFill>
          <a:blip r:embed="rId7">
            <a:extLst>
              <a:ext uri="{96DAC541-7B7A-43D3-8B79-37D633B846F1}">
                <asvg:svgBlip xmlns:asvg="http://schemas.microsoft.com/office/drawing/2016/SVG/main" r:embed="rId8"/>
              </a:ext>
            </a:extLst>
          </a:blip>
          <a:srcRect/>
          <a:stretch>
            <a:fillRect/>
          </a:stretch>
        </p:blipFill>
        <p:spPr/>
      </p:pic>
      <p:pic>
        <p:nvPicPr>
          <p:cNvPr id="30" name="Picture Placeholder 29" descr="Illustrator outline">
            <a:extLst>
              <a:ext uri="{FF2B5EF4-FFF2-40B4-BE49-F238E27FC236}">
                <a16:creationId xmlns:a16="http://schemas.microsoft.com/office/drawing/2014/main" id="{3F3362C4-8FE0-77D1-20A0-44C0B19C613F}"/>
              </a:ext>
            </a:extLst>
          </p:cNvPr>
          <p:cNvPicPr>
            <a:picLocks noGrp="1" noChangeAspect="1"/>
          </p:cNvPicPr>
          <p:nvPr>
            <p:ph type="pic" sz="quarter" idx="25"/>
          </p:nvPr>
        </p:nvPicPr>
        <p:blipFill>
          <a:blip r:embed="rId9">
            <a:extLst>
              <a:ext uri="{96DAC541-7B7A-43D3-8B79-37D633B846F1}">
                <asvg:svgBlip xmlns:asvg="http://schemas.microsoft.com/office/drawing/2016/SVG/main" r:embed="rId10"/>
              </a:ext>
            </a:extLst>
          </a:blip>
          <a:srcRect t="128" b="128"/>
          <a:stretch>
            <a:fillRect/>
          </a:stretch>
        </p:blipFill>
        <p:spPr/>
      </p:pic>
      <p:sp>
        <p:nvSpPr>
          <p:cNvPr id="32" name="Rectangle 31">
            <a:extLst>
              <a:ext uri="{FF2B5EF4-FFF2-40B4-BE49-F238E27FC236}">
                <a16:creationId xmlns:a16="http://schemas.microsoft.com/office/drawing/2014/main" id="{AE213A69-E2EC-3C32-8CFD-F62BD27CB22D}"/>
              </a:ext>
            </a:extLst>
          </p:cNvPr>
          <p:cNvSpPr/>
          <p:nvPr/>
        </p:nvSpPr>
        <p:spPr>
          <a:xfrm>
            <a:off x="11721527" y="2727863"/>
            <a:ext cx="325315" cy="1202840"/>
          </a:xfrm>
          <a:prstGeom prst="rect">
            <a:avLst/>
          </a:prstGeom>
          <a:solidFill>
            <a:srgbClr val="102857"/>
          </a:solidFill>
          <a:ln>
            <a:solidFill>
              <a:srgbClr val="1028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itle 68">
            <a:extLst>
              <a:ext uri="{FF2B5EF4-FFF2-40B4-BE49-F238E27FC236}">
                <a16:creationId xmlns:a16="http://schemas.microsoft.com/office/drawing/2014/main" id="{F5DF6843-1D20-0BC0-D0FB-CD2F8F990F68}"/>
              </a:ext>
            </a:extLst>
          </p:cNvPr>
          <p:cNvSpPr txBox="1">
            <a:spLocks/>
          </p:cNvSpPr>
          <p:nvPr/>
        </p:nvSpPr>
        <p:spPr>
          <a:xfrm>
            <a:off x="1656588" y="136365"/>
            <a:ext cx="8878824" cy="10698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a:lstStyle>
          <a:p>
            <a:r>
              <a:rPr lang="en-US" dirty="0"/>
              <a:t>Supervised Models 4</a:t>
            </a:r>
          </a:p>
        </p:txBody>
      </p:sp>
      <p:sp>
        <p:nvSpPr>
          <p:cNvPr id="44" name="Title 68">
            <a:extLst>
              <a:ext uri="{FF2B5EF4-FFF2-40B4-BE49-F238E27FC236}">
                <a16:creationId xmlns:a16="http://schemas.microsoft.com/office/drawing/2014/main" id="{43CDEA61-5F6B-6B36-9E5E-165429EB9648}"/>
              </a:ext>
            </a:extLst>
          </p:cNvPr>
          <p:cNvSpPr txBox="1">
            <a:spLocks/>
          </p:cNvSpPr>
          <p:nvPr/>
        </p:nvSpPr>
        <p:spPr>
          <a:xfrm>
            <a:off x="1632204" y="903268"/>
            <a:ext cx="8878824" cy="10698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a:lstStyle>
          <a:p>
            <a:r>
              <a:rPr lang="en-US" sz="2800" dirty="0"/>
              <a:t>Conclusions</a:t>
            </a:r>
          </a:p>
        </p:txBody>
      </p:sp>
    </p:spTree>
    <p:extLst>
      <p:ext uri="{BB962C8B-B14F-4D97-AF65-F5344CB8AC3E}">
        <p14:creationId xmlns:p14="http://schemas.microsoft.com/office/powerpoint/2010/main" val="3510130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4C44EC9-F730-00B6-E479-530EC276D851}"/>
              </a:ext>
              <a:ext uri="{C183D7F6-B498-43B3-948B-1728B52AA6E4}">
                <adec:decorative xmlns:adec="http://schemas.microsoft.com/office/drawing/2017/decorative" val="1"/>
              </a:ext>
            </a:extLst>
          </p:cNvPr>
          <p:cNvGrpSpPr/>
          <p:nvPr/>
        </p:nvGrpSpPr>
        <p:grpSpPr>
          <a:xfrm rot="10800000">
            <a:off x="1497321" y="2736484"/>
            <a:ext cx="1512407" cy="938717"/>
            <a:chOff x="4779792" y="2384561"/>
            <a:chExt cx="3365480" cy="2088878"/>
          </a:xfrm>
          <a:solidFill>
            <a:schemeClr val="accent6">
              <a:alpha val="50231"/>
            </a:schemeClr>
          </a:solidFill>
        </p:grpSpPr>
        <p:sp>
          <p:nvSpPr>
            <p:cNvPr id="5" name="Freeform 4">
              <a:extLst>
                <a:ext uri="{FF2B5EF4-FFF2-40B4-BE49-F238E27FC236}">
                  <a16:creationId xmlns:a16="http://schemas.microsoft.com/office/drawing/2014/main" id="{8B6D2F8E-4F98-B89F-E4FB-DD9F900821E1}"/>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99EBD7AD-ED91-CC5F-0110-3EE43A60F946}"/>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7" name="Group 6">
            <a:extLst>
              <a:ext uri="{FF2B5EF4-FFF2-40B4-BE49-F238E27FC236}">
                <a16:creationId xmlns:a16="http://schemas.microsoft.com/office/drawing/2014/main" id="{56B0BED4-B4D2-A8C2-9E8E-FA7D1819E15A}"/>
              </a:ext>
              <a:ext uri="{C183D7F6-B498-43B3-948B-1728B52AA6E4}">
                <adec:decorative xmlns:adec="http://schemas.microsoft.com/office/drawing/2017/decorative" val="1"/>
              </a:ext>
            </a:extLst>
          </p:cNvPr>
          <p:cNvGrpSpPr/>
          <p:nvPr/>
        </p:nvGrpSpPr>
        <p:grpSpPr>
          <a:xfrm>
            <a:off x="9199707" y="3205843"/>
            <a:ext cx="1512408" cy="938718"/>
            <a:chOff x="4779792" y="2384561"/>
            <a:chExt cx="3365480" cy="2088878"/>
          </a:xfrm>
          <a:solidFill>
            <a:schemeClr val="accent1">
              <a:alpha val="48174"/>
            </a:schemeClr>
          </a:solidFill>
        </p:grpSpPr>
        <p:sp>
          <p:nvSpPr>
            <p:cNvPr id="8" name="Freeform 1">
              <a:extLst>
                <a:ext uri="{FF2B5EF4-FFF2-40B4-BE49-F238E27FC236}">
                  <a16:creationId xmlns:a16="http://schemas.microsoft.com/office/drawing/2014/main" id="{B542C6FD-B908-03BB-DE9D-1E76EE849265}"/>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21">
              <a:extLst>
                <a:ext uri="{FF2B5EF4-FFF2-40B4-BE49-F238E27FC236}">
                  <a16:creationId xmlns:a16="http://schemas.microsoft.com/office/drawing/2014/main" id="{594F7F18-2B8D-7493-904B-1BD252DFC677}"/>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D04F090D-C862-CF85-1001-A82E54365597}"/>
              </a:ext>
            </a:extLst>
          </p:cNvPr>
          <p:cNvSpPr>
            <a:spLocks noGrp="1"/>
          </p:cNvSpPr>
          <p:nvPr>
            <p:ph type="ctrTitle"/>
          </p:nvPr>
        </p:nvSpPr>
        <p:spPr/>
        <p:txBody>
          <a:bodyPr/>
          <a:lstStyle/>
          <a:p>
            <a:r>
              <a:rPr lang="en-US" dirty="0"/>
              <a:t>WEALTH IS THE ABILITY TO FULLY EXPERIENCE LIFE.</a:t>
            </a:r>
            <a:br>
              <a:rPr lang="en-US" dirty="0"/>
            </a:br>
            <a:endParaRPr lang="en-US" dirty="0"/>
          </a:p>
        </p:txBody>
      </p:sp>
      <p:sp>
        <p:nvSpPr>
          <p:cNvPr id="3" name="Subtitle 2">
            <a:extLst>
              <a:ext uri="{FF2B5EF4-FFF2-40B4-BE49-F238E27FC236}">
                <a16:creationId xmlns:a16="http://schemas.microsoft.com/office/drawing/2014/main" id="{4CE82C04-6445-9E02-B0E8-8D809278C37D}"/>
              </a:ext>
            </a:extLst>
          </p:cNvPr>
          <p:cNvSpPr>
            <a:spLocks noGrp="1"/>
          </p:cNvSpPr>
          <p:nvPr>
            <p:ph type="subTitle" idx="1"/>
          </p:nvPr>
        </p:nvSpPr>
        <p:spPr/>
        <p:txBody>
          <a:bodyPr/>
          <a:lstStyle/>
          <a:p>
            <a:r>
              <a:rPr lang="en-US" dirty="0"/>
              <a:t>-Henry David Thoreau</a:t>
            </a:r>
          </a:p>
        </p:txBody>
      </p:sp>
    </p:spTree>
    <p:extLst>
      <p:ext uri="{BB962C8B-B14F-4D97-AF65-F5344CB8AC3E}">
        <p14:creationId xmlns:p14="http://schemas.microsoft.com/office/powerpoint/2010/main" val="1213210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9E45E-D6A7-9780-F652-BAF86DFBCC00}"/>
              </a:ext>
            </a:extLst>
          </p:cNvPr>
          <p:cNvSpPr>
            <a:spLocks noGrp="1"/>
          </p:cNvSpPr>
          <p:nvPr>
            <p:ph type="title"/>
          </p:nvPr>
        </p:nvSpPr>
        <p:spPr/>
        <p:txBody>
          <a:bodyPr/>
          <a:lstStyle/>
          <a:p>
            <a:r>
              <a:rPr lang="en-US" dirty="0"/>
              <a:t>AREAS OF FOCUS</a:t>
            </a:r>
          </a:p>
        </p:txBody>
      </p:sp>
      <p:sp>
        <p:nvSpPr>
          <p:cNvPr id="8" name="Slide Number Placeholder 7">
            <a:extLst>
              <a:ext uri="{FF2B5EF4-FFF2-40B4-BE49-F238E27FC236}">
                <a16:creationId xmlns:a16="http://schemas.microsoft.com/office/drawing/2014/main" id="{85577A64-4E94-69E1-3180-1E014BD06B3C}"/>
              </a:ext>
            </a:extLst>
          </p:cNvPr>
          <p:cNvSpPr>
            <a:spLocks noGrp="1"/>
          </p:cNvSpPr>
          <p:nvPr>
            <p:ph type="sldNum" sz="quarter" idx="12"/>
          </p:nvPr>
        </p:nvSpPr>
        <p:spPr/>
        <p:txBody>
          <a:bodyPr/>
          <a:lstStyle/>
          <a:p>
            <a:fld id="{294A09A9-5501-47C1-A89A-A340965A2BE2}" type="slidenum">
              <a:rPr lang="en-US" smtClean="0"/>
              <a:t>14</a:t>
            </a:fld>
            <a:endParaRPr lang="en-US" dirty="0"/>
          </a:p>
        </p:txBody>
      </p:sp>
      <p:sp>
        <p:nvSpPr>
          <p:cNvPr id="3" name="Text Placeholder 2">
            <a:extLst>
              <a:ext uri="{FF2B5EF4-FFF2-40B4-BE49-F238E27FC236}">
                <a16:creationId xmlns:a16="http://schemas.microsoft.com/office/drawing/2014/main" id="{C31605EE-24B6-95D8-DE5E-BEC2F03ECECA}"/>
              </a:ext>
            </a:extLst>
          </p:cNvPr>
          <p:cNvSpPr>
            <a:spLocks noGrp="1"/>
          </p:cNvSpPr>
          <p:nvPr>
            <p:ph type="body" idx="1"/>
          </p:nvPr>
        </p:nvSpPr>
        <p:spPr/>
        <p:txBody>
          <a:bodyPr/>
          <a:lstStyle/>
          <a:p>
            <a:r>
              <a:rPr lang="en-US" dirty="0"/>
              <a:t>Portfolio diversification</a:t>
            </a:r>
          </a:p>
        </p:txBody>
      </p:sp>
      <p:sp>
        <p:nvSpPr>
          <p:cNvPr id="4" name="Content Placeholder 3">
            <a:extLst>
              <a:ext uri="{FF2B5EF4-FFF2-40B4-BE49-F238E27FC236}">
                <a16:creationId xmlns:a16="http://schemas.microsoft.com/office/drawing/2014/main" id="{BE22F651-7ABC-015D-B5C4-622708A64CB1}"/>
              </a:ext>
            </a:extLst>
          </p:cNvPr>
          <p:cNvSpPr>
            <a:spLocks noGrp="1"/>
          </p:cNvSpPr>
          <p:nvPr>
            <p:ph sz="half" idx="2"/>
          </p:nvPr>
        </p:nvSpPr>
        <p:spPr/>
        <p:txBody>
          <a:bodyPr/>
          <a:lstStyle/>
          <a:p>
            <a:r>
              <a:rPr lang="en-US" dirty="0"/>
              <a:t>Develop winning combinations to stay ahead of the market</a:t>
            </a:r>
          </a:p>
          <a:p>
            <a:r>
              <a:rPr lang="en-US" dirty="0"/>
              <a:t>Capitalize on direct ownership of digital coins</a:t>
            </a:r>
          </a:p>
          <a:p>
            <a:r>
              <a:rPr lang="en-US" dirty="0"/>
              <a:t>Invest in multiple blockchains​</a:t>
            </a:r>
          </a:p>
          <a:p>
            <a:endParaRPr lang="en-US" dirty="0"/>
          </a:p>
        </p:txBody>
      </p:sp>
      <p:sp>
        <p:nvSpPr>
          <p:cNvPr id="5" name="Text Placeholder 4">
            <a:extLst>
              <a:ext uri="{FF2B5EF4-FFF2-40B4-BE49-F238E27FC236}">
                <a16:creationId xmlns:a16="http://schemas.microsoft.com/office/drawing/2014/main" id="{6A1E0F07-3291-4EE2-1286-04C97165BA68}"/>
              </a:ext>
            </a:extLst>
          </p:cNvPr>
          <p:cNvSpPr>
            <a:spLocks noGrp="1"/>
          </p:cNvSpPr>
          <p:nvPr>
            <p:ph type="body" sz="quarter" idx="3"/>
          </p:nvPr>
        </p:nvSpPr>
        <p:spPr/>
        <p:txBody>
          <a:bodyPr/>
          <a:lstStyle/>
          <a:p>
            <a:r>
              <a:rPr lang="en-US" dirty="0"/>
              <a:t>Short and long-term goals</a:t>
            </a:r>
          </a:p>
        </p:txBody>
      </p:sp>
      <p:sp>
        <p:nvSpPr>
          <p:cNvPr id="6" name="Content Placeholder 5">
            <a:extLst>
              <a:ext uri="{FF2B5EF4-FFF2-40B4-BE49-F238E27FC236}">
                <a16:creationId xmlns:a16="http://schemas.microsoft.com/office/drawing/2014/main" id="{3DF22CC9-1295-2B21-05A9-68A44E669B8F}"/>
              </a:ext>
            </a:extLst>
          </p:cNvPr>
          <p:cNvSpPr>
            <a:spLocks noGrp="1"/>
          </p:cNvSpPr>
          <p:nvPr>
            <p:ph sz="quarter" idx="4"/>
          </p:nvPr>
        </p:nvSpPr>
        <p:spPr/>
        <p:txBody>
          <a:bodyPr/>
          <a:lstStyle/>
          <a:p>
            <a:r>
              <a:rPr lang="en-US" dirty="0"/>
              <a:t>Create an emergency fund</a:t>
            </a:r>
          </a:p>
          <a:p>
            <a:r>
              <a:rPr lang="en-US" dirty="0"/>
              <a:t>Add a second stream of income</a:t>
            </a:r>
          </a:p>
          <a:p>
            <a:r>
              <a:rPr lang="en-US" dirty="0"/>
              <a:t>Buy a house</a:t>
            </a:r>
          </a:p>
          <a:p>
            <a:r>
              <a:rPr lang="en-US" dirty="0"/>
              <a:t>Supplement retirement fund</a:t>
            </a:r>
          </a:p>
        </p:txBody>
      </p:sp>
      <p:sp>
        <p:nvSpPr>
          <p:cNvPr id="7" name="Footer Placeholder 6">
            <a:extLst>
              <a:ext uri="{FF2B5EF4-FFF2-40B4-BE49-F238E27FC236}">
                <a16:creationId xmlns:a16="http://schemas.microsoft.com/office/drawing/2014/main" id="{A9F57080-19CA-8BBA-6050-8494551D4615}"/>
              </a:ext>
            </a:extLst>
          </p:cNvPr>
          <p:cNvSpPr>
            <a:spLocks noGrp="1"/>
          </p:cNvSpPr>
          <p:nvPr>
            <p:ph type="ftr" sz="quarter" idx="11"/>
          </p:nvPr>
        </p:nvSpPr>
        <p:spPr/>
        <p:txBody>
          <a:bodyPr/>
          <a:lstStyle/>
          <a:p>
            <a:r>
              <a:rPr lang="en-US"/>
              <a:t>Crypto: investing &amp; trading</a:t>
            </a:r>
            <a:endParaRPr lang="en-US" dirty="0"/>
          </a:p>
        </p:txBody>
      </p:sp>
    </p:spTree>
    <p:extLst>
      <p:ext uri="{BB962C8B-B14F-4D97-AF65-F5344CB8AC3E}">
        <p14:creationId xmlns:p14="http://schemas.microsoft.com/office/powerpoint/2010/main" val="765210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73D4-535B-6DCC-2268-43A5E9E12C45}"/>
              </a:ext>
            </a:extLst>
          </p:cNvPr>
          <p:cNvSpPr>
            <a:spLocks noGrp="1"/>
          </p:cNvSpPr>
          <p:nvPr>
            <p:ph type="title"/>
          </p:nvPr>
        </p:nvSpPr>
        <p:spPr/>
        <p:txBody>
          <a:bodyPr/>
          <a:lstStyle/>
          <a:p>
            <a:r>
              <a:rPr lang="en-US" dirty="0"/>
              <a:t>HOW TO GET THERE</a:t>
            </a:r>
          </a:p>
        </p:txBody>
      </p:sp>
      <p:sp>
        <p:nvSpPr>
          <p:cNvPr id="6" name="Slide Number Placeholder 5">
            <a:extLst>
              <a:ext uri="{FF2B5EF4-FFF2-40B4-BE49-F238E27FC236}">
                <a16:creationId xmlns:a16="http://schemas.microsoft.com/office/drawing/2014/main" id="{6459FCA3-0124-0FA6-220B-D72E8F8034C8}"/>
              </a:ext>
            </a:extLst>
          </p:cNvPr>
          <p:cNvSpPr>
            <a:spLocks noGrp="1"/>
          </p:cNvSpPr>
          <p:nvPr>
            <p:ph type="sldNum" sz="quarter" idx="12"/>
          </p:nvPr>
        </p:nvSpPr>
        <p:spPr/>
        <p:txBody>
          <a:bodyPr/>
          <a:lstStyle/>
          <a:p>
            <a:fld id="{294A09A9-5501-47C1-A89A-A340965A2BE2}" type="slidenum">
              <a:rPr lang="en-US" smtClean="0"/>
              <a:t>15</a:t>
            </a:fld>
            <a:endParaRPr lang="en-US" dirty="0"/>
          </a:p>
        </p:txBody>
      </p:sp>
      <p:sp>
        <p:nvSpPr>
          <p:cNvPr id="3" name="Text Placeholder 2">
            <a:extLst>
              <a:ext uri="{FF2B5EF4-FFF2-40B4-BE49-F238E27FC236}">
                <a16:creationId xmlns:a16="http://schemas.microsoft.com/office/drawing/2014/main" id="{5830852F-3FB7-6D2E-F6AC-1F6B9CAD2158}"/>
              </a:ext>
            </a:extLst>
          </p:cNvPr>
          <p:cNvSpPr>
            <a:spLocks noGrp="1"/>
          </p:cNvSpPr>
          <p:nvPr>
            <p:ph type="body" idx="1"/>
          </p:nvPr>
        </p:nvSpPr>
        <p:spPr/>
        <p:txBody>
          <a:bodyPr/>
          <a:lstStyle/>
          <a:p>
            <a:r>
              <a:rPr lang="en-US" dirty="0"/>
              <a:t>Strategize</a:t>
            </a:r>
          </a:p>
          <a:p>
            <a:endParaRPr lang="en-US" dirty="0"/>
          </a:p>
        </p:txBody>
      </p:sp>
      <p:sp>
        <p:nvSpPr>
          <p:cNvPr id="10" name="Content Placeholder 9">
            <a:extLst>
              <a:ext uri="{FF2B5EF4-FFF2-40B4-BE49-F238E27FC236}">
                <a16:creationId xmlns:a16="http://schemas.microsoft.com/office/drawing/2014/main" id="{E135D3F1-0C33-3404-5D49-E70C9D100F2A}"/>
              </a:ext>
            </a:extLst>
          </p:cNvPr>
          <p:cNvSpPr>
            <a:spLocks noGrp="1"/>
          </p:cNvSpPr>
          <p:nvPr>
            <p:ph sz="half" idx="2"/>
          </p:nvPr>
        </p:nvSpPr>
        <p:spPr/>
        <p:txBody>
          <a:bodyPr/>
          <a:lstStyle/>
          <a:p>
            <a:r>
              <a:rPr lang="en-US" dirty="0"/>
              <a:t>Do your research and develop a plan with goals</a:t>
            </a:r>
          </a:p>
          <a:p>
            <a:r>
              <a:rPr lang="en-US" dirty="0"/>
              <a:t>Diversify your portfolio through coin ownership​</a:t>
            </a:r>
          </a:p>
          <a:p>
            <a:r>
              <a:rPr lang="en-US" dirty="0"/>
              <a:t>Follow the markets closely​</a:t>
            </a:r>
          </a:p>
          <a:p>
            <a:endParaRPr lang="en-US" dirty="0"/>
          </a:p>
          <a:p>
            <a:endParaRPr lang="en-US" dirty="0"/>
          </a:p>
          <a:p>
            <a:endParaRPr lang="en-US" dirty="0"/>
          </a:p>
        </p:txBody>
      </p:sp>
      <p:sp>
        <p:nvSpPr>
          <p:cNvPr id="5" name="Text Placeholder 4">
            <a:extLst>
              <a:ext uri="{FF2B5EF4-FFF2-40B4-BE49-F238E27FC236}">
                <a16:creationId xmlns:a16="http://schemas.microsoft.com/office/drawing/2014/main" id="{BE5F7BD8-DA37-58AB-1F45-D0F045DF4B7B}"/>
              </a:ext>
            </a:extLst>
          </p:cNvPr>
          <p:cNvSpPr>
            <a:spLocks noGrp="1"/>
          </p:cNvSpPr>
          <p:nvPr>
            <p:ph type="body" sz="quarter" idx="3"/>
          </p:nvPr>
        </p:nvSpPr>
        <p:spPr/>
        <p:txBody>
          <a:bodyPr/>
          <a:lstStyle/>
          <a:p>
            <a:r>
              <a:rPr lang="en-US" dirty="0"/>
              <a:t>Minimize risk</a:t>
            </a:r>
          </a:p>
        </p:txBody>
      </p:sp>
      <p:sp>
        <p:nvSpPr>
          <p:cNvPr id="11" name="Content Placeholder 10">
            <a:extLst>
              <a:ext uri="{FF2B5EF4-FFF2-40B4-BE49-F238E27FC236}">
                <a16:creationId xmlns:a16="http://schemas.microsoft.com/office/drawing/2014/main" id="{724F2AAC-B18D-1D49-15F1-2D69101664AA}"/>
              </a:ext>
            </a:extLst>
          </p:cNvPr>
          <p:cNvSpPr>
            <a:spLocks noGrp="1"/>
          </p:cNvSpPr>
          <p:nvPr>
            <p:ph sz="quarter" idx="4"/>
          </p:nvPr>
        </p:nvSpPr>
        <p:spPr/>
        <p:txBody>
          <a:bodyPr/>
          <a:lstStyle/>
          <a:p>
            <a:r>
              <a:rPr lang="en-US" dirty="0"/>
              <a:t>Be cautious of scams and "too good to be true" scenarios</a:t>
            </a:r>
          </a:p>
          <a:p>
            <a:r>
              <a:rPr lang="en-US" dirty="0"/>
              <a:t>Avoid "all-in" strategies</a:t>
            </a:r>
          </a:p>
          <a:p>
            <a:endParaRPr lang="en-US" dirty="0"/>
          </a:p>
          <a:p>
            <a:endParaRPr lang="en-US" dirty="0"/>
          </a:p>
          <a:p>
            <a:endParaRPr lang="en-US" dirty="0"/>
          </a:p>
        </p:txBody>
      </p:sp>
      <p:sp>
        <p:nvSpPr>
          <p:cNvPr id="12" name="Text Placeholder 11">
            <a:extLst>
              <a:ext uri="{FF2B5EF4-FFF2-40B4-BE49-F238E27FC236}">
                <a16:creationId xmlns:a16="http://schemas.microsoft.com/office/drawing/2014/main" id="{5E68EFF0-69C3-F9AE-1107-E08A22BCF938}"/>
              </a:ext>
            </a:extLst>
          </p:cNvPr>
          <p:cNvSpPr>
            <a:spLocks noGrp="1"/>
          </p:cNvSpPr>
          <p:nvPr>
            <p:ph type="body" sz="quarter" idx="13"/>
          </p:nvPr>
        </p:nvSpPr>
        <p:spPr/>
        <p:txBody>
          <a:bodyPr/>
          <a:lstStyle/>
          <a:p>
            <a:r>
              <a:rPr lang="en-US" dirty="0"/>
              <a:t>Utilize resources</a:t>
            </a:r>
          </a:p>
        </p:txBody>
      </p:sp>
      <p:sp>
        <p:nvSpPr>
          <p:cNvPr id="13" name="Content Placeholder 12">
            <a:extLst>
              <a:ext uri="{FF2B5EF4-FFF2-40B4-BE49-F238E27FC236}">
                <a16:creationId xmlns:a16="http://schemas.microsoft.com/office/drawing/2014/main" id="{4D6980BD-0225-0DD6-3D62-B0B1E983AB52}"/>
              </a:ext>
            </a:extLst>
          </p:cNvPr>
          <p:cNvSpPr>
            <a:spLocks noGrp="1"/>
          </p:cNvSpPr>
          <p:nvPr>
            <p:ph sz="quarter" idx="14"/>
          </p:nvPr>
        </p:nvSpPr>
        <p:spPr>
          <a:xfrm>
            <a:off x="7973568" y="2743200"/>
            <a:ext cx="3068680" cy="2578608"/>
          </a:xfrm>
        </p:spPr>
        <p:txBody>
          <a:bodyPr/>
          <a:lstStyle/>
          <a:p>
            <a:r>
              <a:rPr lang="en-US" dirty="0"/>
              <a:t>Apps and platforms help streamline user experience</a:t>
            </a:r>
          </a:p>
          <a:p>
            <a:r>
              <a:rPr lang="en-US" dirty="0"/>
              <a:t>Seek expert guidance from Krypto Logics team members​</a:t>
            </a:r>
          </a:p>
          <a:p>
            <a:endParaRPr lang="en-US" dirty="0"/>
          </a:p>
          <a:p>
            <a:endParaRPr lang="en-US" dirty="0"/>
          </a:p>
        </p:txBody>
      </p:sp>
      <p:sp>
        <p:nvSpPr>
          <p:cNvPr id="4" name="Footer Placeholder 3">
            <a:extLst>
              <a:ext uri="{FF2B5EF4-FFF2-40B4-BE49-F238E27FC236}">
                <a16:creationId xmlns:a16="http://schemas.microsoft.com/office/drawing/2014/main" id="{A107ABA7-FC97-4D42-C4BC-897A88CF39AF}"/>
              </a:ext>
            </a:extLst>
          </p:cNvPr>
          <p:cNvSpPr>
            <a:spLocks noGrp="1"/>
          </p:cNvSpPr>
          <p:nvPr>
            <p:ph type="ftr" sz="quarter" idx="11"/>
          </p:nvPr>
        </p:nvSpPr>
        <p:spPr/>
        <p:txBody>
          <a:bodyPr/>
          <a:lstStyle/>
          <a:p>
            <a:r>
              <a:rPr lang="en-US"/>
              <a:t>Crypto: investing &amp; trading</a:t>
            </a:r>
            <a:endParaRPr lang="en-US" dirty="0"/>
          </a:p>
        </p:txBody>
      </p:sp>
    </p:spTree>
    <p:extLst>
      <p:ext uri="{BB962C8B-B14F-4D97-AF65-F5344CB8AC3E}">
        <p14:creationId xmlns:p14="http://schemas.microsoft.com/office/powerpoint/2010/main" val="1877080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57144164-5503-9D11-4F68-81F4CD378333}"/>
              </a:ext>
            </a:extLst>
          </p:cNvPr>
          <p:cNvSpPr>
            <a:spLocks noGrp="1"/>
          </p:cNvSpPr>
          <p:nvPr>
            <p:ph type="title"/>
          </p:nvPr>
        </p:nvSpPr>
        <p:spPr/>
        <p:txBody>
          <a:bodyPr/>
          <a:lstStyle/>
          <a:p>
            <a:r>
              <a:rPr lang="en-US" dirty="0"/>
              <a:t>MEET OUR TEAM</a:t>
            </a:r>
          </a:p>
        </p:txBody>
      </p:sp>
      <p:sp>
        <p:nvSpPr>
          <p:cNvPr id="11" name="Slide Number Placeholder 10">
            <a:extLst>
              <a:ext uri="{FF2B5EF4-FFF2-40B4-BE49-F238E27FC236}">
                <a16:creationId xmlns:a16="http://schemas.microsoft.com/office/drawing/2014/main" id="{9816FD90-6ABD-5EA8-0870-E27733B9F685}"/>
              </a:ext>
            </a:extLst>
          </p:cNvPr>
          <p:cNvSpPr>
            <a:spLocks noGrp="1"/>
          </p:cNvSpPr>
          <p:nvPr>
            <p:ph type="sldNum" sz="quarter" idx="11"/>
          </p:nvPr>
        </p:nvSpPr>
        <p:spPr/>
        <p:txBody>
          <a:bodyPr/>
          <a:lstStyle/>
          <a:p>
            <a:fld id="{294A09A9-5501-47C1-A89A-A340965A2BE2}" type="slidenum">
              <a:rPr lang="en-US" smtClean="0"/>
              <a:pPr/>
              <a:t>16</a:t>
            </a:fld>
            <a:endParaRPr lang="en-US" dirty="0"/>
          </a:p>
        </p:txBody>
      </p:sp>
      <p:pic>
        <p:nvPicPr>
          <p:cNvPr id="16" name="Picture Placeholder 15" descr="Team member head shot&#10;">
            <a:extLst>
              <a:ext uri="{FF2B5EF4-FFF2-40B4-BE49-F238E27FC236}">
                <a16:creationId xmlns:a16="http://schemas.microsoft.com/office/drawing/2014/main" id="{675FEA7C-5201-0219-EAA4-51C8A3B8185E}"/>
              </a:ext>
            </a:extLst>
          </p:cNvPr>
          <p:cNvPicPr>
            <a:picLocks noGrp="1" noChangeAspect="1"/>
          </p:cNvPicPr>
          <p:nvPr>
            <p:ph type="pic" sz="quarter" idx="20"/>
          </p:nvPr>
        </p:nvPicPr>
        <p:blipFill rotWithShape="1">
          <a:blip r:embed="rId2"/>
          <a:srcRect t="45" b="45"/>
          <a:stretch/>
        </p:blipFill>
        <p:spPr/>
      </p:pic>
      <p:sp>
        <p:nvSpPr>
          <p:cNvPr id="3" name="Text Placeholder 2">
            <a:extLst>
              <a:ext uri="{FF2B5EF4-FFF2-40B4-BE49-F238E27FC236}">
                <a16:creationId xmlns:a16="http://schemas.microsoft.com/office/drawing/2014/main" id="{CFC225EB-9239-A8F4-48C2-D2E44A245C26}"/>
              </a:ext>
            </a:extLst>
          </p:cNvPr>
          <p:cNvSpPr>
            <a:spLocks noGrp="1"/>
          </p:cNvSpPr>
          <p:nvPr>
            <p:ph type="body" sz="quarter" idx="12"/>
          </p:nvPr>
        </p:nvSpPr>
        <p:spPr/>
        <p:txBody>
          <a:bodyPr/>
          <a:lstStyle/>
          <a:p>
            <a:r>
              <a:rPr lang="en-US" dirty="0"/>
              <a:t>Takuma Hayashi​</a:t>
            </a:r>
          </a:p>
        </p:txBody>
      </p:sp>
      <p:sp>
        <p:nvSpPr>
          <p:cNvPr id="4" name="Text Placeholder 3">
            <a:extLst>
              <a:ext uri="{FF2B5EF4-FFF2-40B4-BE49-F238E27FC236}">
                <a16:creationId xmlns:a16="http://schemas.microsoft.com/office/drawing/2014/main" id="{BF63BCC4-AF80-8D3B-413B-3F80C74503EE}"/>
              </a:ext>
            </a:extLst>
          </p:cNvPr>
          <p:cNvSpPr>
            <a:spLocks noGrp="1"/>
          </p:cNvSpPr>
          <p:nvPr>
            <p:ph type="body" sz="quarter" idx="13"/>
          </p:nvPr>
        </p:nvSpPr>
        <p:spPr/>
        <p:txBody>
          <a:bodyPr/>
          <a:lstStyle/>
          <a:p>
            <a:r>
              <a:rPr lang="en-US" dirty="0"/>
              <a:t>President</a:t>
            </a:r>
          </a:p>
        </p:txBody>
      </p:sp>
      <p:pic>
        <p:nvPicPr>
          <p:cNvPr id="17" name="Picture Placeholder 16" descr="Team member head shot&#10;">
            <a:extLst>
              <a:ext uri="{FF2B5EF4-FFF2-40B4-BE49-F238E27FC236}">
                <a16:creationId xmlns:a16="http://schemas.microsoft.com/office/drawing/2014/main" id="{8B1E138F-E5F8-7188-0E7F-C61CC315F3CA}"/>
              </a:ext>
            </a:extLst>
          </p:cNvPr>
          <p:cNvPicPr>
            <a:picLocks noGrp="1" noChangeAspect="1"/>
          </p:cNvPicPr>
          <p:nvPr>
            <p:ph type="pic" sz="quarter" idx="21"/>
          </p:nvPr>
        </p:nvPicPr>
        <p:blipFill rotWithShape="1">
          <a:blip r:embed="rId3"/>
          <a:srcRect/>
          <a:stretch/>
        </p:blipFill>
        <p:spPr/>
      </p:pic>
      <p:sp>
        <p:nvSpPr>
          <p:cNvPr id="5" name="Text Placeholder 4">
            <a:extLst>
              <a:ext uri="{FF2B5EF4-FFF2-40B4-BE49-F238E27FC236}">
                <a16:creationId xmlns:a16="http://schemas.microsoft.com/office/drawing/2014/main" id="{664EAAE3-47A6-DF8C-088B-8353E312893A}"/>
              </a:ext>
            </a:extLst>
          </p:cNvPr>
          <p:cNvSpPr>
            <a:spLocks noGrp="1"/>
          </p:cNvSpPr>
          <p:nvPr>
            <p:ph type="body" sz="quarter" idx="14"/>
          </p:nvPr>
        </p:nvSpPr>
        <p:spPr/>
        <p:txBody>
          <a:bodyPr/>
          <a:lstStyle/>
          <a:p>
            <a:r>
              <a:rPr lang="en-US" dirty="0"/>
              <a:t>Mirjam Nilsson​</a:t>
            </a:r>
          </a:p>
        </p:txBody>
      </p:sp>
      <p:sp>
        <p:nvSpPr>
          <p:cNvPr id="6" name="Text Placeholder 5">
            <a:extLst>
              <a:ext uri="{FF2B5EF4-FFF2-40B4-BE49-F238E27FC236}">
                <a16:creationId xmlns:a16="http://schemas.microsoft.com/office/drawing/2014/main" id="{8E956031-A8E2-FF88-2769-10FEB7B754A7}"/>
              </a:ext>
            </a:extLst>
          </p:cNvPr>
          <p:cNvSpPr>
            <a:spLocks noGrp="1"/>
          </p:cNvSpPr>
          <p:nvPr>
            <p:ph type="body" sz="quarter" idx="15"/>
          </p:nvPr>
        </p:nvSpPr>
        <p:spPr/>
        <p:txBody>
          <a:bodyPr/>
          <a:lstStyle/>
          <a:p>
            <a:r>
              <a:rPr lang="en-US" dirty="0"/>
              <a:t>Chief Executive Officer</a:t>
            </a:r>
          </a:p>
        </p:txBody>
      </p:sp>
      <p:pic>
        <p:nvPicPr>
          <p:cNvPr id="18" name="Picture Placeholder 17" descr="Team member head shot&#10;">
            <a:extLst>
              <a:ext uri="{FF2B5EF4-FFF2-40B4-BE49-F238E27FC236}">
                <a16:creationId xmlns:a16="http://schemas.microsoft.com/office/drawing/2014/main" id="{F4608F53-148D-4D2F-6672-8A90E230C68A}"/>
              </a:ext>
            </a:extLst>
          </p:cNvPr>
          <p:cNvPicPr>
            <a:picLocks noGrp="1" noChangeAspect="1"/>
          </p:cNvPicPr>
          <p:nvPr>
            <p:ph type="pic" sz="quarter" idx="22"/>
          </p:nvPr>
        </p:nvPicPr>
        <p:blipFill rotWithShape="1">
          <a:blip r:embed="rId4"/>
          <a:srcRect/>
          <a:stretch/>
        </p:blipFill>
        <p:spPr/>
      </p:pic>
      <p:sp>
        <p:nvSpPr>
          <p:cNvPr id="7" name="Text Placeholder 6">
            <a:extLst>
              <a:ext uri="{FF2B5EF4-FFF2-40B4-BE49-F238E27FC236}">
                <a16:creationId xmlns:a16="http://schemas.microsoft.com/office/drawing/2014/main" id="{24AD9EB9-CF0D-0D70-D541-05E1A813D00F}"/>
              </a:ext>
            </a:extLst>
          </p:cNvPr>
          <p:cNvSpPr>
            <a:spLocks noGrp="1"/>
          </p:cNvSpPr>
          <p:nvPr>
            <p:ph type="body" sz="quarter" idx="16"/>
          </p:nvPr>
        </p:nvSpPr>
        <p:spPr/>
        <p:txBody>
          <a:bodyPr/>
          <a:lstStyle/>
          <a:p>
            <a:r>
              <a:rPr lang="en-US" dirty="0"/>
              <a:t>Flora Berggren​</a:t>
            </a:r>
          </a:p>
        </p:txBody>
      </p:sp>
      <p:sp>
        <p:nvSpPr>
          <p:cNvPr id="8" name="Text Placeholder 7">
            <a:extLst>
              <a:ext uri="{FF2B5EF4-FFF2-40B4-BE49-F238E27FC236}">
                <a16:creationId xmlns:a16="http://schemas.microsoft.com/office/drawing/2014/main" id="{869DE758-CE4B-6136-04AE-85B544CA6F5B}"/>
              </a:ext>
            </a:extLst>
          </p:cNvPr>
          <p:cNvSpPr>
            <a:spLocks noGrp="1"/>
          </p:cNvSpPr>
          <p:nvPr>
            <p:ph type="body" sz="quarter" idx="17"/>
          </p:nvPr>
        </p:nvSpPr>
        <p:spPr/>
        <p:txBody>
          <a:bodyPr/>
          <a:lstStyle/>
          <a:p>
            <a:r>
              <a:rPr lang="en-US" dirty="0"/>
              <a:t>Chief Operations Officer</a:t>
            </a:r>
          </a:p>
        </p:txBody>
      </p:sp>
      <p:pic>
        <p:nvPicPr>
          <p:cNvPr id="19" name="Picture Placeholder 18" descr="Team member head shot&#10;">
            <a:extLst>
              <a:ext uri="{FF2B5EF4-FFF2-40B4-BE49-F238E27FC236}">
                <a16:creationId xmlns:a16="http://schemas.microsoft.com/office/drawing/2014/main" id="{34C21939-A4DB-0F96-83D8-AD8FFB45359F}"/>
              </a:ext>
            </a:extLst>
          </p:cNvPr>
          <p:cNvPicPr>
            <a:picLocks noGrp="1" noChangeAspect="1"/>
          </p:cNvPicPr>
          <p:nvPr>
            <p:ph type="pic" sz="quarter" idx="23"/>
          </p:nvPr>
        </p:nvPicPr>
        <p:blipFill rotWithShape="1">
          <a:blip r:embed="rId5"/>
          <a:srcRect l="174" r="174"/>
          <a:stretch/>
        </p:blipFill>
        <p:spPr/>
      </p:pic>
      <p:sp>
        <p:nvSpPr>
          <p:cNvPr id="9" name="Text Placeholder 8">
            <a:extLst>
              <a:ext uri="{FF2B5EF4-FFF2-40B4-BE49-F238E27FC236}">
                <a16:creationId xmlns:a16="http://schemas.microsoft.com/office/drawing/2014/main" id="{22A99FBE-9850-5F5D-04D9-E3A83DEEA928}"/>
              </a:ext>
            </a:extLst>
          </p:cNvPr>
          <p:cNvSpPr>
            <a:spLocks noGrp="1"/>
          </p:cNvSpPr>
          <p:nvPr>
            <p:ph type="body" sz="quarter" idx="18"/>
          </p:nvPr>
        </p:nvSpPr>
        <p:spPr/>
        <p:txBody>
          <a:bodyPr/>
          <a:lstStyle/>
          <a:p>
            <a:r>
              <a:rPr lang="en-US" dirty="0"/>
              <a:t>Rajesh Santoshi​</a:t>
            </a:r>
          </a:p>
        </p:txBody>
      </p:sp>
      <p:sp>
        <p:nvSpPr>
          <p:cNvPr id="10" name="Text Placeholder 9">
            <a:extLst>
              <a:ext uri="{FF2B5EF4-FFF2-40B4-BE49-F238E27FC236}">
                <a16:creationId xmlns:a16="http://schemas.microsoft.com/office/drawing/2014/main" id="{19AAB49A-6730-B2CF-9537-FF9551D4EB80}"/>
              </a:ext>
            </a:extLst>
          </p:cNvPr>
          <p:cNvSpPr>
            <a:spLocks noGrp="1"/>
          </p:cNvSpPr>
          <p:nvPr>
            <p:ph type="body" sz="quarter" idx="19"/>
          </p:nvPr>
        </p:nvSpPr>
        <p:spPr/>
        <p:txBody>
          <a:bodyPr/>
          <a:lstStyle/>
          <a:p>
            <a:r>
              <a:rPr lang="en-US" dirty="0"/>
              <a:t>VP Marketing</a:t>
            </a:r>
          </a:p>
        </p:txBody>
      </p:sp>
      <p:sp>
        <p:nvSpPr>
          <p:cNvPr id="2" name="Footer Placeholder 1">
            <a:extLst>
              <a:ext uri="{FF2B5EF4-FFF2-40B4-BE49-F238E27FC236}">
                <a16:creationId xmlns:a16="http://schemas.microsoft.com/office/drawing/2014/main" id="{23DFDBA5-4CFB-88D0-C90E-69D151F5BFCA}"/>
              </a:ext>
            </a:extLst>
          </p:cNvPr>
          <p:cNvSpPr>
            <a:spLocks noGrp="1"/>
          </p:cNvSpPr>
          <p:nvPr>
            <p:ph type="ftr" sz="quarter" idx="10"/>
          </p:nvPr>
        </p:nvSpPr>
        <p:spPr/>
        <p:txBody>
          <a:bodyPr/>
          <a:lstStyle/>
          <a:p>
            <a:r>
              <a:rPr lang="en-US"/>
              <a:t>Crypto: investing &amp; trading</a:t>
            </a:r>
            <a:endParaRPr lang="en-US" dirty="0"/>
          </a:p>
        </p:txBody>
      </p:sp>
    </p:spTree>
    <p:extLst>
      <p:ext uri="{BB962C8B-B14F-4D97-AF65-F5344CB8AC3E}">
        <p14:creationId xmlns:p14="http://schemas.microsoft.com/office/powerpoint/2010/main" val="1579562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57144164-5503-9D11-4F68-81F4CD378333}"/>
              </a:ext>
            </a:extLst>
          </p:cNvPr>
          <p:cNvSpPr>
            <a:spLocks noGrp="1"/>
          </p:cNvSpPr>
          <p:nvPr>
            <p:ph type="title"/>
          </p:nvPr>
        </p:nvSpPr>
        <p:spPr/>
        <p:txBody>
          <a:bodyPr/>
          <a:lstStyle/>
          <a:p>
            <a:r>
              <a:rPr lang="en-US" dirty="0"/>
              <a:t>MEET OUR EXTENDED TEAM</a:t>
            </a:r>
          </a:p>
        </p:txBody>
      </p:sp>
      <p:sp>
        <p:nvSpPr>
          <p:cNvPr id="11" name="Slide Number Placeholder 10">
            <a:extLst>
              <a:ext uri="{FF2B5EF4-FFF2-40B4-BE49-F238E27FC236}">
                <a16:creationId xmlns:a16="http://schemas.microsoft.com/office/drawing/2014/main" id="{F02CA379-5C0D-5E21-B070-E880A01BB9A7}"/>
              </a:ext>
            </a:extLst>
          </p:cNvPr>
          <p:cNvSpPr>
            <a:spLocks noGrp="1"/>
          </p:cNvSpPr>
          <p:nvPr>
            <p:ph type="sldNum" sz="quarter" idx="11"/>
          </p:nvPr>
        </p:nvSpPr>
        <p:spPr/>
        <p:txBody>
          <a:bodyPr/>
          <a:lstStyle/>
          <a:p>
            <a:fld id="{294A09A9-5501-47C1-A89A-A340965A2BE2}" type="slidenum">
              <a:rPr lang="en-US" smtClean="0"/>
              <a:pPr/>
              <a:t>17</a:t>
            </a:fld>
            <a:endParaRPr lang="en-US" dirty="0"/>
          </a:p>
        </p:txBody>
      </p:sp>
      <p:pic>
        <p:nvPicPr>
          <p:cNvPr id="16" name="Picture Placeholder 15" descr="Team member head shot&#10;">
            <a:extLst>
              <a:ext uri="{FF2B5EF4-FFF2-40B4-BE49-F238E27FC236}">
                <a16:creationId xmlns:a16="http://schemas.microsoft.com/office/drawing/2014/main" id="{675FEA7C-5201-0219-EAA4-51C8A3B8185E}"/>
              </a:ext>
            </a:extLst>
          </p:cNvPr>
          <p:cNvPicPr>
            <a:picLocks noGrp="1" noChangeAspect="1"/>
          </p:cNvPicPr>
          <p:nvPr>
            <p:ph type="pic" sz="quarter" idx="20"/>
          </p:nvPr>
        </p:nvPicPr>
        <p:blipFill rotWithShape="1">
          <a:blip r:embed="rId2"/>
          <a:srcRect/>
          <a:stretch/>
        </p:blipFill>
        <p:spPr/>
      </p:pic>
      <p:sp>
        <p:nvSpPr>
          <p:cNvPr id="3" name="Text Placeholder 2">
            <a:extLst>
              <a:ext uri="{FF2B5EF4-FFF2-40B4-BE49-F238E27FC236}">
                <a16:creationId xmlns:a16="http://schemas.microsoft.com/office/drawing/2014/main" id="{CFC225EB-9239-A8F4-48C2-D2E44A245C26}"/>
              </a:ext>
            </a:extLst>
          </p:cNvPr>
          <p:cNvSpPr>
            <a:spLocks noGrp="1"/>
          </p:cNvSpPr>
          <p:nvPr>
            <p:ph type="body" sz="quarter" idx="12"/>
          </p:nvPr>
        </p:nvSpPr>
        <p:spPr/>
        <p:txBody>
          <a:bodyPr/>
          <a:lstStyle/>
          <a:p>
            <a:r>
              <a:rPr lang="en-US" dirty="0"/>
              <a:t>Takuma Hayashi​</a:t>
            </a:r>
          </a:p>
        </p:txBody>
      </p:sp>
      <p:sp>
        <p:nvSpPr>
          <p:cNvPr id="4" name="Text Placeholder 3">
            <a:extLst>
              <a:ext uri="{FF2B5EF4-FFF2-40B4-BE49-F238E27FC236}">
                <a16:creationId xmlns:a16="http://schemas.microsoft.com/office/drawing/2014/main" id="{BF63BCC4-AF80-8D3B-413B-3F80C74503EE}"/>
              </a:ext>
            </a:extLst>
          </p:cNvPr>
          <p:cNvSpPr>
            <a:spLocks noGrp="1"/>
          </p:cNvSpPr>
          <p:nvPr>
            <p:ph type="body" sz="quarter" idx="13"/>
          </p:nvPr>
        </p:nvSpPr>
        <p:spPr/>
        <p:txBody>
          <a:bodyPr/>
          <a:lstStyle/>
          <a:p>
            <a:r>
              <a:rPr lang="en-US" dirty="0"/>
              <a:t>President</a:t>
            </a:r>
          </a:p>
        </p:txBody>
      </p:sp>
      <p:pic>
        <p:nvPicPr>
          <p:cNvPr id="139" name="Picture Placeholder 138" descr="Team member head shot&#10;">
            <a:extLst>
              <a:ext uri="{FF2B5EF4-FFF2-40B4-BE49-F238E27FC236}">
                <a16:creationId xmlns:a16="http://schemas.microsoft.com/office/drawing/2014/main" id="{40505ADD-6A41-FEA2-952B-68B8652C37DD}"/>
              </a:ext>
            </a:extLst>
          </p:cNvPr>
          <p:cNvPicPr>
            <a:picLocks noGrp="1" noChangeAspect="1"/>
          </p:cNvPicPr>
          <p:nvPr>
            <p:ph type="pic" sz="quarter" idx="24"/>
          </p:nvPr>
        </p:nvPicPr>
        <p:blipFill rotWithShape="1">
          <a:blip r:embed="rId3"/>
          <a:srcRect/>
          <a:stretch/>
        </p:blipFill>
        <p:spPr/>
      </p:pic>
      <p:sp>
        <p:nvSpPr>
          <p:cNvPr id="131" name="Text Placeholder 130">
            <a:extLst>
              <a:ext uri="{FF2B5EF4-FFF2-40B4-BE49-F238E27FC236}">
                <a16:creationId xmlns:a16="http://schemas.microsoft.com/office/drawing/2014/main" id="{29B0FDD4-0C9D-9FEE-0CB5-5341E9A67D6A}"/>
              </a:ext>
            </a:extLst>
          </p:cNvPr>
          <p:cNvSpPr>
            <a:spLocks noGrp="1"/>
          </p:cNvSpPr>
          <p:nvPr>
            <p:ph type="body" sz="quarter" idx="28"/>
          </p:nvPr>
        </p:nvSpPr>
        <p:spPr/>
        <p:txBody>
          <a:bodyPr/>
          <a:lstStyle/>
          <a:p>
            <a:r>
              <a:rPr lang="en-US" dirty="0"/>
              <a:t>Graham Barnes</a:t>
            </a:r>
          </a:p>
        </p:txBody>
      </p:sp>
      <p:sp>
        <p:nvSpPr>
          <p:cNvPr id="132" name="Text Placeholder 131">
            <a:extLst>
              <a:ext uri="{FF2B5EF4-FFF2-40B4-BE49-F238E27FC236}">
                <a16:creationId xmlns:a16="http://schemas.microsoft.com/office/drawing/2014/main" id="{0E6B790C-A9A2-BF33-11DC-2AA2B45ADDDE}"/>
              </a:ext>
            </a:extLst>
          </p:cNvPr>
          <p:cNvSpPr>
            <a:spLocks noGrp="1"/>
          </p:cNvSpPr>
          <p:nvPr>
            <p:ph type="body" sz="quarter" idx="29"/>
          </p:nvPr>
        </p:nvSpPr>
        <p:spPr/>
        <p:txBody>
          <a:bodyPr/>
          <a:lstStyle/>
          <a:p>
            <a:r>
              <a:rPr lang="en-US" dirty="0"/>
              <a:t>VP Product</a:t>
            </a:r>
          </a:p>
        </p:txBody>
      </p:sp>
      <p:pic>
        <p:nvPicPr>
          <p:cNvPr id="17" name="Picture Placeholder 16" descr="Team member head shot&#10;">
            <a:extLst>
              <a:ext uri="{FF2B5EF4-FFF2-40B4-BE49-F238E27FC236}">
                <a16:creationId xmlns:a16="http://schemas.microsoft.com/office/drawing/2014/main" id="{8B1E138F-E5F8-7188-0E7F-C61CC315F3CA}"/>
              </a:ext>
            </a:extLst>
          </p:cNvPr>
          <p:cNvPicPr>
            <a:picLocks noGrp="1" noChangeAspect="1"/>
          </p:cNvPicPr>
          <p:nvPr>
            <p:ph type="pic" sz="quarter" idx="21"/>
          </p:nvPr>
        </p:nvPicPr>
        <p:blipFill rotWithShape="1">
          <a:blip r:embed="rId4"/>
          <a:srcRect t="75" b="75"/>
          <a:stretch/>
        </p:blipFill>
        <p:spPr/>
      </p:pic>
      <p:sp>
        <p:nvSpPr>
          <p:cNvPr id="5" name="Text Placeholder 4">
            <a:extLst>
              <a:ext uri="{FF2B5EF4-FFF2-40B4-BE49-F238E27FC236}">
                <a16:creationId xmlns:a16="http://schemas.microsoft.com/office/drawing/2014/main" id="{664EAAE3-47A6-DF8C-088B-8353E312893A}"/>
              </a:ext>
            </a:extLst>
          </p:cNvPr>
          <p:cNvSpPr>
            <a:spLocks noGrp="1"/>
          </p:cNvSpPr>
          <p:nvPr>
            <p:ph type="body" sz="quarter" idx="14"/>
          </p:nvPr>
        </p:nvSpPr>
        <p:spPr/>
        <p:txBody>
          <a:bodyPr/>
          <a:lstStyle/>
          <a:p>
            <a:r>
              <a:rPr lang="en-US" dirty="0"/>
              <a:t>Mirjam Nilsson​</a:t>
            </a:r>
          </a:p>
        </p:txBody>
      </p:sp>
      <p:sp>
        <p:nvSpPr>
          <p:cNvPr id="6" name="Text Placeholder 5">
            <a:extLst>
              <a:ext uri="{FF2B5EF4-FFF2-40B4-BE49-F238E27FC236}">
                <a16:creationId xmlns:a16="http://schemas.microsoft.com/office/drawing/2014/main" id="{8E956031-A8E2-FF88-2769-10FEB7B754A7}"/>
              </a:ext>
            </a:extLst>
          </p:cNvPr>
          <p:cNvSpPr>
            <a:spLocks noGrp="1"/>
          </p:cNvSpPr>
          <p:nvPr>
            <p:ph type="body" sz="quarter" idx="15"/>
          </p:nvPr>
        </p:nvSpPr>
        <p:spPr/>
        <p:txBody>
          <a:bodyPr/>
          <a:lstStyle/>
          <a:p>
            <a:r>
              <a:rPr lang="en-US" dirty="0"/>
              <a:t>Chief Executive Officer</a:t>
            </a:r>
          </a:p>
        </p:txBody>
      </p:sp>
      <p:pic>
        <p:nvPicPr>
          <p:cNvPr id="140" name="Picture Placeholder 139" descr="Team member head shot&#10;">
            <a:extLst>
              <a:ext uri="{FF2B5EF4-FFF2-40B4-BE49-F238E27FC236}">
                <a16:creationId xmlns:a16="http://schemas.microsoft.com/office/drawing/2014/main" id="{DAE46AC2-4E04-644A-503C-188DFB2C3463}"/>
              </a:ext>
            </a:extLst>
          </p:cNvPr>
          <p:cNvPicPr>
            <a:picLocks noGrp="1" noChangeAspect="1"/>
          </p:cNvPicPr>
          <p:nvPr>
            <p:ph type="pic" sz="quarter" idx="25"/>
          </p:nvPr>
        </p:nvPicPr>
        <p:blipFill rotWithShape="1">
          <a:blip r:embed="rId5"/>
          <a:srcRect t="75" b="75"/>
          <a:stretch/>
        </p:blipFill>
        <p:spPr/>
      </p:pic>
      <p:sp>
        <p:nvSpPr>
          <p:cNvPr id="133" name="Text Placeholder 132">
            <a:extLst>
              <a:ext uri="{FF2B5EF4-FFF2-40B4-BE49-F238E27FC236}">
                <a16:creationId xmlns:a16="http://schemas.microsoft.com/office/drawing/2014/main" id="{F73428BF-556B-39B3-A2E1-A3479B7A4368}"/>
              </a:ext>
            </a:extLst>
          </p:cNvPr>
          <p:cNvSpPr>
            <a:spLocks noGrp="1"/>
          </p:cNvSpPr>
          <p:nvPr>
            <p:ph type="body" sz="quarter" idx="30"/>
          </p:nvPr>
        </p:nvSpPr>
        <p:spPr/>
        <p:txBody>
          <a:bodyPr/>
          <a:lstStyle/>
          <a:p>
            <a:r>
              <a:rPr lang="en-US" dirty="0"/>
              <a:t>Rowan Murphy</a:t>
            </a:r>
          </a:p>
        </p:txBody>
      </p:sp>
      <p:sp>
        <p:nvSpPr>
          <p:cNvPr id="134" name="Text Placeholder 133">
            <a:extLst>
              <a:ext uri="{FF2B5EF4-FFF2-40B4-BE49-F238E27FC236}">
                <a16:creationId xmlns:a16="http://schemas.microsoft.com/office/drawing/2014/main" id="{3519B91A-73EE-B2B8-4875-2C6A0113D333}"/>
              </a:ext>
            </a:extLst>
          </p:cNvPr>
          <p:cNvSpPr>
            <a:spLocks noGrp="1"/>
          </p:cNvSpPr>
          <p:nvPr>
            <p:ph type="body" sz="quarter" idx="31"/>
          </p:nvPr>
        </p:nvSpPr>
        <p:spPr/>
        <p:txBody>
          <a:bodyPr/>
          <a:lstStyle/>
          <a:p>
            <a:r>
              <a:rPr lang="en-US" dirty="0"/>
              <a:t>SEO Strategist</a:t>
            </a:r>
          </a:p>
        </p:txBody>
      </p:sp>
      <p:pic>
        <p:nvPicPr>
          <p:cNvPr id="18" name="Picture Placeholder 17" descr="Team member head shot&#10;">
            <a:extLst>
              <a:ext uri="{FF2B5EF4-FFF2-40B4-BE49-F238E27FC236}">
                <a16:creationId xmlns:a16="http://schemas.microsoft.com/office/drawing/2014/main" id="{F4608F53-148D-4D2F-6672-8A90E230C68A}"/>
              </a:ext>
            </a:extLst>
          </p:cNvPr>
          <p:cNvPicPr>
            <a:picLocks noGrp="1" noChangeAspect="1"/>
          </p:cNvPicPr>
          <p:nvPr>
            <p:ph type="pic" sz="quarter" idx="22"/>
          </p:nvPr>
        </p:nvPicPr>
        <p:blipFill rotWithShape="1">
          <a:blip r:embed="rId6"/>
          <a:srcRect t="75" b="75"/>
          <a:stretch/>
        </p:blipFill>
        <p:spPr/>
      </p:pic>
      <p:sp>
        <p:nvSpPr>
          <p:cNvPr id="7" name="Text Placeholder 6">
            <a:extLst>
              <a:ext uri="{FF2B5EF4-FFF2-40B4-BE49-F238E27FC236}">
                <a16:creationId xmlns:a16="http://schemas.microsoft.com/office/drawing/2014/main" id="{24AD9EB9-CF0D-0D70-D541-05E1A813D00F}"/>
              </a:ext>
            </a:extLst>
          </p:cNvPr>
          <p:cNvSpPr>
            <a:spLocks noGrp="1"/>
          </p:cNvSpPr>
          <p:nvPr>
            <p:ph type="body" sz="quarter" idx="16"/>
          </p:nvPr>
        </p:nvSpPr>
        <p:spPr/>
        <p:txBody>
          <a:bodyPr/>
          <a:lstStyle/>
          <a:p>
            <a:r>
              <a:rPr lang="en-US" dirty="0"/>
              <a:t>Flora Berggren​</a:t>
            </a:r>
          </a:p>
        </p:txBody>
      </p:sp>
      <p:sp>
        <p:nvSpPr>
          <p:cNvPr id="8" name="Text Placeholder 7">
            <a:extLst>
              <a:ext uri="{FF2B5EF4-FFF2-40B4-BE49-F238E27FC236}">
                <a16:creationId xmlns:a16="http://schemas.microsoft.com/office/drawing/2014/main" id="{869DE758-CE4B-6136-04AE-85B544CA6F5B}"/>
              </a:ext>
            </a:extLst>
          </p:cNvPr>
          <p:cNvSpPr>
            <a:spLocks noGrp="1"/>
          </p:cNvSpPr>
          <p:nvPr>
            <p:ph type="body" sz="quarter" idx="17"/>
          </p:nvPr>
        </p:nvSpPr>
        <p:spPr/>
        <p:txBody>
          <a:bodyPr/>
          <a:lstStyle/>
          <a:p>
            <a:r>
              <a:rPr lang="en-US" dirty="0"/>
              <a:t>Chief Operations Officer</a:t>
            </a:r>
          </a:p>
        </p:txBody>
      </p:sp>
      <p:pic>
        <p:nvPicPr>
          <p:cNvPr id="141" name="Picture Placeholder 140" descr="Team member head shot&#10;">
            <a:extLst>
              <a:ext uri="{FF2B5EF4-FFF2-40B4-BE49-F238E27FC236}">
                <a16:creationId xmlns:a16="http://schemas.microsoft.com/office/drawing/2014/main" id="{105B8828-F685-63DD-6F9F-62F8A8DA6D06}"/>
              </a:ext>
            </a:extLst>
          </p:cNvPr>
          <p:cNvPicPr>
            <a:picLocks noGrp="1" noChangeAspect="1"/>
          </p:cNvPicPr>
          <p:nvPr>
            <p:ph type="pic" sz="quarter" idx="26"/>
          </p:nvPr>
        </p:nvPicPr>
        <p:blipFill rotWithShape="1">
          <a:blip r:embed="rId7"/>
          <a:srcRect l="291" r="291"/>
          <a:stretch/>
        </p:blipFill>
        <p:spPr/>
      </p:pic>
      <p:sp>
        <p:nvSpPr>
          <p:cNvPr id="135" name="Text Placeholder 134">
            <a:extLst>
              <a:ext uri="{FF2B5EF4-FFF2-40B4-BE49-F238E27FC236}">
                <a16:creationId xmlns:a16="http://schemas.microsoft.com/office/drawing/2014/main" id="{747BF9B3-DF8F-789C-9AF6-94771E1AF5FE}"/>
              </a:ext>
            </a:extLst>
          </p:cNvPr>
          <p:cNvSpPr>
            <a:spLocks noGrp="1"/>
          </p:cNvSpPr>
          <p:nvPr>
            <p:ph type="body" sz="quarter" idx="32"/>
          </p:nvPr>
        </p:nvSpPr>
        <p:spPr/>
        <p:txBody>
          <a:bodyPr/>
          <a:lstStyle/>
          <a:p>
            <a:r>
              <a:rPr lang="en-US" dirty="0"/>
              <a:t>Elizabeth Moore</a:t>
            </a:r>
          </a:p>
        </p:txBody>
      </p:sp>
      <p:sp>
        <p:nvSpPr>
          <p:cNvPr id="136" name="Text Placeholder 135">
            <a:extLst>
              <a:ext uri="{FF2B5EF4-FFF2-40B4-BE49-F238E27FC236}">
                <a16:creationId xmlns:a16="http://schemas.microsoft.com/office/drawing/2014/main" id="{A2297428-B6BC-F5B5-C82D-3BC4408EC576}"/>
              </a:ext>
            </a:extLst>
          </p:cNvPr>
          <p:cNvSpPr>
            <a:spLocks noGrp="1"/>
          </p:cNvSpPr>
          <p:nvPr>
            <p:ph type="body" sz="quarter" idx="33"/>
          </p:nvPr>
        </p:nvSpPr>
        <p:spPr/>
        <p:txBody>
          <a:bodyPr/>
          <a:lstStyle/>
          <a:p>
            <a:r>
              <a:rPr lang="en-US" dirty="0"/>
              <a:t>Product Designer</a:t>
            </a:r>
          </a:p>
        </p:txBody>
      </p:sp>
      <p:pic>
        <p:nvPicPr>
          <p:cNvPr id="19" name="Picture Placeholder 18" descr="Team member head shot&#10;">
            <a:extLst>
              <a:ext uri="{FF2B5EF4-FFF2-40B4-BE49-F238E27FC236}">
                <a16:creationId xmlns:a16="http://schemas.microsoft.com/office/drawing/2014/main" id="{34C21939-A4DB-0F96-83D8-AD8FFB45359F}"/>
              </a:ext>
            </a:extLst>
          </p:cNvPr>
          <p:cNvPicPr>
            <a:picLocks noGrp="1" noChangeAspect="1"/>
          </p:cNvPicPr>
          <p:nvPr>
            <p:ph type="pic" sz="quarter" idx="23"/>
          </p:nvPr>
        </p:nvPicPr>
        <p:blipFill rotWithShape="1">
          <a:blip r:embed="rId8"/>
          <a:srcRect l="99" r="99"/>
          <a:stretch/>
        </p:blipFill>
        <p:spPr/>
      </p:pic>
      <p:sp>
        <p:nvSpPr>
          <p:cNvPr id="9" name="Text Placeholder 8">
            <a:extLst>
              <a:ext uri="{FF2B5EF4-FFF2-40B4-BE49-F238E27FC236}">
                <a16:creationId xmlns:a16="http://schemas.microsoft.com/office/drawing/2014/main" id="{22A99FBE-9850-5F5D-04D9-E3A83DEEA928}"/>
              </a:ext>
            </a:extLst>
          </p:cNvPr>
          <p:cNvSpPr>
            <a:spLocks noGrp="1"/>
          </p:cNvSpPr>
          <p:nvPr>
            <p:ph type="body" sz="quarter" idx="18"/>
          </p:nvPr>
        </p:nvSpPr>
        <p:spPr/>
        <p:txBody>
          <a:bodyPr/>
          <a:lstStyle/>
          <a:p>
            <a:r>
              <a:rPr lang="en-US" dirty="0"/>
              <a:t>Rajesh Santoshi​</a:t>
            </a:r>
          </a:p>
        </p:txBody>
      </p:sp>
      <p:sp>
        <p:nvSpPr>
          <p:cNvPr id="10" name="Text Placeholder 9">
            <a:extLst>
              <a:ext uri="{FF2B5EF4-FFF2-40B4-BE49-F238E27FC236}">
                <a16:creationId xmlns:a16="http://schemas.microsoft.com/office/drawing/2014/main" id="{19AAB49A-6730-B2CF-9537-FF9551D4EB80}"/>
              </a:ext>
            </a:extLst>
          </p:cNvPr>
          <p:cNvSpPr>
            <a:spLocks noGrp="1"/>
          </p:cNvSpPr>
          <p:nvPr>
            <p:ph type="body" sz="quarter" idx="19"/>
          </p:nvPr>
        </p:nvSpPr>
        <p:spPr/>
        <p:txBody>
          <a:bodyPr/>
          <a:lstStyle/>
          <a:p>
            <a:r>
              <a:rPr lang="en-US" dirty="0"/>
              <a:t>VP Marketing</a:t>
            </a:r>
          </a:p>
        </p:txBody>
      </p:sp>
      <p:pic>
        <p:nvPicPr>
          <p:cNvPr id="142" name="Picture Placeholder 141" descr="Team member head shot&#10;">
            <a:extLst>
              <a:ext uri="{FF2B5EF4-FFF2-40B4-BE49-F238E27FC236}">
                <a16:creationId xmlns:a16="http://schemas.microsoft.com/office/drawing/2014/main" id="{E6A455C2-70F1-6DAE-26E6-C7AAE0CFA814}"/>
              </a:ext>
            </a:extLst>
          </p:cNvPr>
          <p:cNvPicPr>
            <a:picLocks noGrp="1" noChangeAspect="1"/>
          </p:cNvPicPr>
          <p:nvPr>
            <p:ph type="pic" sz="quarter" idx="27"/>
          </p:nvPr>
        </p:nvPicPr>
        <p:blipFill rotWithShape="1">
          <a:blip r:embed="rId9"/>
          <a:srcRect l="291" r="291"/>
          <a:stretch/>
        </p:blipFill>
        <p:spPr/>
      </p:pic>
      <p:sp>
        <p:nvSpPr>
          <p:cNvPr id="137" name="Text Placeholder 136">
            <a:extLst>
              <a:ext uri="{FF2B5EF4-FFF2-40B4-BE49-F238E27FC236}">
                <a16:creationId xmlns:a16="http://schemas.microsoft.com/office/drawing/2014/main" id="{651B92A3-1DB6-8A7F-09B7-C7969D53FB3A}"/>
              </a:ext>
            </a:extLst>
          </p:cNvPr>
          <p:cNvSpPr>
            <a:spLocks noGrp="1"/>
          </p:cNvSpPr>
          <p:nvPr>
            <p:ph type="body" sz="quarter" idx="34"/>
          </p:nvPr>
        </p:nvSpPr>
        <p:spPr/>
        <p:txBody>
          <a:bodyPr/>
          <a:lstStyle/>
          <a:p>
            <a:r>
              <a:rPr lang="en-US" dirty="0"/>
              <a:t>Robin Kline</a:t>
            </a:r>
          </a:p>
        </p:txBody>
      </p:sp>
      <p:sp>
        <p:nvSpPr>
          <p:cNvPr id="138" name="Text Placeholder 137">
            <a:extLst>
              <a:ext uri="{FF2B5EF4-FFF2-40B4-BE49-F238E27FC236}">
                <a16:creationId xmlns:a16="http://schemas.microsoft.com/office/drawing/2014/main" id="{462B07C6-5B4D-AB97-3376-C4F8BFC2C143}"/>
              </a:ext>
            </a:extLst>
          </p:cNvPr>
          <p:cNvSpPr>
            <a:spLocks noGrp="1"/>
          </p:cNvSpPr>
          <p:nvPr>
            <p:ph type="body" sz="quarter" idx="35"/>
          </p:nvPr>
        </p:nvSpPr>
        <p:spPr/>
        <p:txBody>
          <a:bodyPr/>
          <a:lstStyle/>
          <a:p>
            <a:r>
              <a:rPr lang="en-US" dirty="0"/>
              <a:t>Content Developer</a:t>
            </a:r>
          </a:p>
        </p:txBody>
      </p:sp>
      <p:sp>
        <p:nvSpPr>
          <p:cNvPr id="2" name="Footer Placeholder 1">
            <a:extLst>
              <a:ext uri="{FF2B5EF4-FFF2-40B4-BE49-F238E27FC236}">
                <a16:creationId xmlns:a16="http://schemas.microsoft.com/office/drawing/2014/main" id="{E0C0AB0C-E0B6-7838-D865-2AB638122FD9}"/>
              </a:ext>
            </a:extLst>
          </p:cNvPr>
          <p:cNvSpPr>
            <a:spLocks noGrp="1"/>
          </p:cNvSpPr>
          <p:nvPr>
            <p:ph type="ftr" sz="quarter" idx="10"/>
          </p:nvPr>
        </p:nvSpPr>
        <p:spPr/>
        <p:txBody>
          <a:bodyPr/>
          <a:lstStyle/>
          <a:p>
            <a:r>
              <a:rPr lang="en-US"/>
              <a:t>Crypto: investing &amp; trading</a:t>
            </a:r>
            <a:endParaRPr lang="en-US" dirty="0"/>
          </a:p>
        </p:txBody>
      </p:sp>
    </p:spTree>
    <p:extLst>
      <p:ext uri="{BB962C8B-B14F-4D97-AF65-F5344CB8AC3E}">
        <p14:creationId xmlns:p14="http://schemas.microsoft.com/office/powerpoint/2010/main" val="84060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p:txBody>
          <a:bodyPr/>
          <a:lstStyle/>
          <a:p>
            <a:r>
              <a:rPr lang="en-US" sz="4000" b="1" spc="600" dirty="0" err="1">
                <a:ln w="28575">
                  <a:noFill/>
                  <a:prstDash val="solid"/>
                </a:ln>
                <a:solidFill>
                  <a:schemeClr val="bg1"/>
                </a:solidFill>
                <a:latin typeface="Tw Cen MT" panose="020B0602020104020603" pitchFamily="34" charset="77"/>
                <a:ea typeface="Verdana" panose="020B0604030504040204" pitchFamily="34" charset="0"/>
                <a:cs typeface="Verdana" panose="020B0604030504040204" pitchFamily="34" charset="0"/>
              </a:rPr>
              <a:t>ConClusion</a:t>
            </a:r>
            <a:endParaRPr lang="en-US" dirty="0"/>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p:txBody>
          <a:bodyPr/>
          <a:lstStyle/>
          <a:p>
            <a:r>
              <a:rPr lang="en-US" sz="1800" dirty="0">
                <a:solidFill>
                  <a:schemeClr val="bg1"/>
                </a:solidFill>
                <a:latin typeface="Segoe UI Light" panose="020B0502040204020203" pitchFamily="34" charset="0"/>
                <a:ea typeface="+mn-lt"/>
                <a:cs typeface="Segoe UI Light" panose="020B0502040204020203" pitchFamily="34" charset="0"/>
              </a:rPr>
              <a:t>At Krypto Logics, we believe in giving 110%. By using our next-generation data architecture, we help investors virtually manage their portfolios. We thrive because of our market knowledge and great team. As our CEO says, "Efficiencies will come from proactively transforming how we do business."</a:t>
            </a:r>
          </a:p>
          <a:p>
            <a:endParaRPr lang="en-US" dirty="0"/>
          </a:p>
        </p:txBody>
      </p:sp>
    </p:spTree>
    <p:extLst>
      <p:ext uri="{BB962C8B-B14F-4D97-AF65-F5344CB8AC3E}">
        <p14:creationId xmlns:p14="http://schemas.microsoft.com/office/powerpoint/2010/main" val="1958759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3.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718</TotalTime>
  <Words>1001</Words>
  <Application>Microsoft Office PowerPoint</Application>
  <PresentationFormat>Widescreen</PresentationFormat>
  <Paragraphs>195</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Courier New</vt:lpstr>
      <vt:lpstr>Segoe UI</vt:lpstr>
      <vt:lpstr>Segoe UI Light</vt:lpstr>
      <vt:lpstr>Tw Cen MT</vt:lpstr>
      <vt:lpstr>Office Theme</vt:lpstr>
      <vt:lpstr>CSCI44 Project Presentation</vt:lpstr>
      <vt:lpstr>CONTENTS</vt:lpstr>
      <vt:lpstr>INTRODUCTION</vt:lpstr>
      <vt:lpstr>Dataset</vt:lpstr>
      <vt:lpstr>Feature Engineering 1</vt:lpstr>
      <vt:lpstr>Feature Engineering 2</vt:lpstr>
      <vt:lpstr>Feature Engineering 3</vt:lpstr>
      <vt:lpstr>Model Strategy</vt:lpstr>
      <vt:lpstr>Supervised Models 1</vt:lpstr>
      <vt:lpstr>PowerPoint Presentation</vt:lpstr>
      <vt:lpstr>PowerPoint Presentation</vt:lpstr>
      <vt:lpstr>PowerPoint Presentation</vt:lpstr>
      <vt:lpstr>WEALTH IS THE ABILITY TO FULLY EXPERIENCE LIFE. </vt:lpstr>
      <vt:lpstr>AREAS OF FOCUS</vt:lpstr>
      <vt:lpstr>HOW TO GET THERE</vt:lpstr>
      <vt:lpstr>MEET OUR TEAM</vt:lpstr>
      <vt:lpstr>MEET OUR EXTENDED TEAM</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YAK Gamer</dc:creator>
  <cp:lastModifiedBy>YAK Gamer</cp:lastModifiedBy>
  <cp:revision>4</cp:revision>
  <dcterms:created xsi:type="dcterms:W3CDTF">2026-01-04T12:16:51Z</dcterms:created>
  <dcterms:modified xsi:type="dcterms:W3CDTF">2026-01-05T14:02:12Z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